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HEME">
    <p:bg>
      <p:bgPr>
        <a:solidFill>
          <a:srgbClr val="0F172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1543050"/>
            <a:ext cx="9144000" cy="0"/>
          </a:xfrm>
          <a:prstGeom prst="rect">
            <a:avLst/>
          </a:prstGeom>
          <a:noFill/>
          <a:ln/>
        </p:spPr>
        <p:txBody>
          <a:bodyPr wrap="square" rtlCol="0" anchor="ctr"/>
          <a:lstStyle/>
          <a:p>
            <a:pPr algn="ctr" indent="0" marL="0">
              <a:buNone/>
            </a:pPr>
            <a:r>
              <a:rPr lang="en-US" sz="4400" b="1" dirty="0">
                <a:solidFill>
                  <a:srgbClr val="FFFFFF"/>
                </a:solidFill>
              </a:rPr>
              <a:t>EOM Presentation</a:t>
            </a:r>
            <a:endParaRPr lang="en-US" sz="4400" dirty="0"/>
          </a:p>
        </p:txBody>
      </p:sp>
      <p:sp>
        <p:nvSpPr>
          <p:cNvPr id="3" name="Text 1"/>
          <p:cNvSpPr/>
          <p:nvPr/>
        </p:nvSpPr>
        <p:spPr>
          <a:xfrm>
            <a:off x="0" y="2314575"/>
            <a:ext cx="9144000" cy="0"/>
          </a:xfrm>
          <a:prstGeom prst="rect">
            <a:avLst/>
          </a:prstGeom>
          <a:noFill/>
          <a:ln/>
        </p:spPr>
        <p:txBody>
          <a:bodyPr wrap="square" rtlCol="0" anchor="ctr"/>
          <a:lstStyle/>
          <a:p>
            <a:pPr algn="ctr" indent="0" marL="0">
              <a:buNone/>
            </a:pPr>
            <a:r>
              <a:rPr lang="en-US" sz="2000" dirty="0">
                <a:solidFill>
                  <a:srgbClr val="94A3B8"/>
                </a:solidFill>
              </a:rPr>
              <a:t>The Toyota Expansion Narrative</a:t>
            </a:r>
            <a:endParaRPr lang="en-US" sz="2000" dirty="0"/>
          </a:p>
        </p:txBody>
      </p:sp>
      <p:sp>
        <p:nvSpPr>
          <p:cNvPr id="4" name="Shape 2"/>
          <p:cNvSpPr/>
          <p:nvPr/>
        </p:nvSpPr>
        <p:spPr>
          <a:xfrm>
            <a:off x="4069080" y="2828925"/>
            <a:ext cx="914400" cy="45720"/>
          </a:xfrm>
          <a:prstGeom prst="rect">
            <a:avLst/>
          </a:prstGeom>
          <a:solidFill>
            <a:srgbClr val="DC2626"/>
          </a:solidFill>
          <a:ln/>
        </p:spPr>
      </p:sp>
      <p:sp>
        <p:nvSpPr>
          <p:cNvPr id="5" name="Text 3"/>
          <p:cNvSpPr/>
          <p:nvPr/>
        </p:nvSpPr>
        <p:spPr>
          <a:xfrm>
            <a:off x="0" y="3343275"/>
            <a:ext cx="9144000" cy="0"/>
          </a:xfrm>
          <a:prstGeom prst="rect">
            <a:avLst/>
          </a:prstGeom>
          <a:noFill/>
          <a:ln/>
        </p:spPr>
        <p:txBody>
          <a:bodyPr wrap="square" rtlCol="0" anchor="ctr"/>
          <a:lstStyle/>
          <a:p>
            <a:pPr algn="ctr" indent="0" marL="0">
              <a:buNone/>
            </a:pPr>
            <a:r>
              <a:rPr lang="en-US" sz="1400" b="1" spc="200" kern="0" dirty="0">
                <a:solidFill>
                  <a:srgbClr val="DC2626"/>
                </a:solidFill>
              </a:rPr>
              <a:t>MIT Manipal | Math and computing 2027</a:t>
            </a:r>
            <a:endParaRPr lang="en-US" sz="14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1: INTRO</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The metamorphosis</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Originating from the Toyoda Automatic Loom Works in the early 20th century under Sakichi Toyoda, Toyota has constantly transcended its mechanical roots. After World War II, under Kiichiro Toyoda and engineer Taiichi Ohno, the company pioneered the Toyota Production System (TPS) — a framework that eradicated waste and introduced "Just-In-Time" to the world.</a:t>
            </a:r>
            <a:endParaRPr lang="en-US" sz="1400" dirty="0"/>
          </a:p>
        </p:txBody>
      </p:sp>
      <p:sp>
        <p:nvSpPr>
          <p:cNvPr id="6" name="Text 4"/>
          <p:cNvSpPr/>
          <p:nvPr/>
        </p:nvSpPr>
        <p:spPr>
          <a:xfrm>
            <a:off x="457200" y="292608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Today, facing a generational disruption driven by electrification, AI, and autonomy, Toyota is executing another strategic pivot. They are shedding the identity of a traditional automaker to become a holistic mobility company for the seamless global movement of people, goods, energy, and information.</a:t>
            </a:r>
            <a:endParaRPr lang="en-US" sz="1400" dirty="0"/>
          </a:p>
        </p:txBody>
      </p:sp>
      <p:sp>
        <p:nvSpPr>
          <p:cNvPr id="7" name="Shape 5"/>
          <p:cNvSpPr/>
          <p:nvPr/>
        </p:nvSpPr>
        <p:spPr>
          <a:xfrm>
            <a:off x="457200" y="4114800"/>
            <a:ext cx="8229600" cy="548640"/>
          </a:xfrm>
          <a:prstGeom prst="rect">
            <a:avLst/>
          </a:prstGeom>
          <a:solidFill>
            <a:srgbClr val="1E293B"/>
          </a:solidFill>
          <a:ln/>
        </p:spPr>
      </p:sp>
      <p:sp>
        <p:nvSpPr>
          <p:cNvPr id="8" name="Shape 6"/>
          <p:cNvSpPr/>
          <p:nvPr/>
        </p:nvSpPr>
        <p:spPr>
          <a:xfrm>
            <a:off x="457200" y="4114800"/>
            <a:ext cx="45720" cy="548640"/>
          </a:xfrm>
          <a:prstGeom prst="rect">
            <a:avLst/>
          </a:prstGeom>
          <a:solidFill>
            <a:srgbClr val="DC2626"/>
          </a:solidFill>
          <a:ln/>
        </p:spPr>
      </p:sp>
      <p:sp>
        <p:nvSpPr>
          <p:cNvPr id="9" name="Text 7"/>
          <p:cNvSpPr/>
          <p:nvPr/>
        </p:nvSpPr>
        <p:spPr>
          <a:xfrm>
            <a:off x="640080" y="4206240"/>
            <a:ext cx="7772400" cy="0"/>
          </a:xfrm>
          <a:prstGeom prst="rect">
            <a:avLst/>
          </a:prstGeom>
          <a:noFill/>
          <a:ln/>
        </p:spPr>
        <p:txBody>
          <a:bodyPr wrap="square" rtlCol="0" anchor="ctr"/>
          <a:lstStyle/>
          <a:p>
            <a:pPr indent="0" marL="0">
              <a:buNone/>
            </a:pPr>
            <a:r>
              <a:rPr lang="en-US" sz="1600" b="1" dirty="0">
                <a:solidFill>
                  <a:srgbClr val="FFFFFF"/>
                </a:solidFill>
              </a:rPr>
              <a:t>CORE MISSION: "Producing happiness for all" via the vision of "creating mobility for all."</a:t>
            </a:r>
            <a:endParaRPr lang="en-US" sz="16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1: INTRO</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The Toyoda precepts (1935)</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8229600" cy="0"/>
          </a:xfrm>
          <a:prstGeom prst="rect">
            <a:avLst/>
          </a:prstGeom>
          <a:noFill/>
          <a:ln/>
        </p:spPr>
        <p:txBody>
          <a:bodyPr wrap="square" rtlCol="0" anchor="ctr"/>
          <a:lstStyle/>
          <a:p>
            <a:pPr indent="0" marL="0">
              <a:lnSpc>
                <a:spcPts val="2400"/>
              </a:lnSpc>
              <a:buNone/>
            </a:pPr>
            <a:r>
              <a:rPr lang="en-US" sz="1400" b="1" dirty="0">
                <a:solidFill>
                  <a:srgbClr val="DC2626"/>
                </a:solidFill>
              </a:rPr>
              <a:t>1. Faithful to duties </a:t>
            </a:r>
            <a:pPr indent="0" marL="0">
              <a:lnSpc>
                <a:spcPts val="2400"/>
              </a:lnSpc>
              <a:buNone/>
            </a:pPr>
            <a:r>
              <a:rPr lang="en-US" sz="1400" dirty="0">
                <a:solidFill>
                  <a:srgbClr val="FFFFFF"/>
                </a:solidFill>
              </a:rPr>
              <a:t>to contribute to the overall good. A principle demanding corporate citizenship above isolated profit-seeking.
</a:t>
            </a:r>
            <a:pPr indent="0" marL="0">
              <a:lnSpc>
                <a:spcPts val="2400"/>
              </a:lnSpc>
              <a:buNone/>
            </a:pPr>
            <a:r>
              <a:rPr lang="en-US" sz="1400" b="1" dirty="0">
                <a:solidFill>
                  <a:srgbClr val="DC2626"/>
                </a:solidFill>
              </a:rPr>
              <a:t>2. Studiousness and creativity </a:t>
            </a:r>
            <a:pPr indent="0" marL="0">
              <a:lnSpc>
                <a:spcPts val="2400"/>
              </a:lnSpc>
              <a:buNone/>
            </a:pPr>
            <a:r>
              <a:rPr lang="en-US" sz="1400" dirty="0">
                <a:solidFill>
                  <a:srgbClr val="FFFFFF"/>
                </a:solidFill>
              </a:rPr>
              <a:t>to stay ahead of the times. The foundation for continuous innovation.
</a:t>
            </a:r>
            <a:pPr indent="0" marL="0">
              <a:lnSpc>
                <a:spcPts val="2400"/>
              </a:lnSpc>
              <a:buNone/>
            </a:pPr>
            <a:r>
              <a:rPr lang="en-US" sz="1400" b="1" dirty="0">
                <a:solidFill>
                  <a:srgbClr val="DC2626"/>
                </a:solidFill>
              </a:rPr>
              <a:t>3. Practicality </a:t>
            </a:r>
            <a:pPr indent="0" marL="0">
              <a:lnSpc>
                <a:spcPts val="2400"/>
              </a:lnSpc>
              <a:buNone/>
            </a:pPr>
            <a:r>
              <a:rPr lang="en-US" sz="1400" dirty="0">
                <a:solidFill>
                  <a:srgbClr val="FFFFFF"/>
                </a:solidFill>
              </a:rPr>
              <a:t>while eschewing frivolousness. The core tenet that birthed lean manufacturing.
</a:t>
            </a:r>
            <a:pPr indent="0" marL="0">
              <a:lnSpc>
                <a:spcPts val="2400"/>
              </a:lnSpc>
              <a:buNone/>
            </a:pPr>
            <a:r>
              <a:rPr lang="en-US" sz="1400" b="1" dirty="0">
                <a:solidFill>
                  <a:srgbClr val="DC2626"/>
                </a:solidFill>
              </a:rPr>
              <a:t>4. Foster a warm workplace </a:t>
            </a:r>
            <a:pPr indent="0" marL="0">
              <a:lnSpc>
                <a:spcPts val="2400"/>
              </a:lnSpc>
              <a:buNone/>
            </a:pPr>
            <a:r>
              <a:rPr lang="en-US" sz="1400" dirty="0">
                <a:solidFill>
                  <a:srgbClr val="FFFFFF"/>
                </a:solidFill>
              </a:rPr>
              <a:t>atmosphere. Ensuring psychological safety on the factory floor (genba).
</a:t>
            </a:r>
            <a:pPr indent="0" marL="0">
              <a:lnSpc>
                <a:spcPts val="2400"/>
              </a:lnSpc>
              <a:buNone/>
            </a:pPr>
            <a:r>
              <a:rPr lang="en-US" sz="1400" b="1" dirty="0">
                <a:solidFill>
                  <a:srgbClr val="DC2626"/>
                </a:solidFill>
              </a:rPr>
              <a:t>5. Profound respect </a:t>
            </a:r>
            <a:pPr indent="0" marL="0">
              <a:lnSpc>
                <a:spcPts val="2400"/>
              </a:lnSpc>
              <a:buNone/>
            </a:pPr>
            <a:r>
              <a:rPr lang="en-US" sz="1400" dirty="0">
                <a:solidFill>
                  <a:srgbClr val="FFFFFF"/>
                </a:solidFill>
              </a:rPr>
              <a:t>for spiritual matters and gratitude. Fostering humility in leadership and profound respect for local communities.</a:t>
            </a:r>
            <a:endParaRPr lang="en-US" sz="14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2: PLANNING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Strategic intelligence</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828800"/>
            <a:ext cx="8229600" cy="0"/>
          </a:xfrm>
          <a:prstGeom prst="rect">
            <a:avLst/>
          </a:prstGeom>
          <a:noFill/>
          <a:ln/>
        </p:spPr>
        <p:txBody>
          <a:bodyPr wrap="square" rtlCol="0" anchor="ctr"/>
          <a:lstStyle/>
          <a:p>
            <a:pPr indent="0" marL="0">
              <a:lnSpc>
                <a:spcPts val="2400"/>
              </a:lnSpc>
              <a:buNone/>
            </a:pPr>
            <a:r>
              <a:rPr lang="en-US" sz="1600" dirty="0">
                <a:solidFill>
                  <a:srgbClr val="94A3B8"/>
                </a:solidFill>
              </a:rPr>
              <a:t>Planning is a continuous, systemic integration of external market realities with internal manufacturing capabilities. We analyze Toyota through canonical frameworks: SWOT, TOWS, Blue Ocean, BCG, and Porter's Five Forces. This top-down strategic planning phase ensures that multi-billion dollar capital expenditure decisions—like battery lab investments and factory retrofits—are insulated from short-term market hysteria.</a:t>
            </a:r>
            <a:endParaRPr lang="en-US" sz="16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2: PLANNING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The SWOT matrix</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Shape 3"/>
          <p:cNvSpPr/>
          <p:nvPr/>
        </p:nvSpPr>
        <p:spPr>
          <a:xfrm>
            <a:off x="457200" y="1554480"/>
            <a:ext cx="3931920" cy="1554480"/>
          </a:xfrm>
          <a:prstGeom prst="rect">
            <a:avLst/>
          </a:prstGeom>
          <a:solidFill>
            <a:srgbClr val="0F172A"/>
          </a:solidFill>
          <a:ln w="12700">
            <a:solidFill>
              <a:srgbClr val="10B981"/>
            </a:solidFill>
            <a:prstDash val="solid"/>
          </a:ln>
        </p:spPr>
      </p:sp>
      <p:sp>
        <p:nvSpPr>
          <p:cNvPr id="6" name="Text 4"/>
          <p:cNvSpPr/>
          <p:nvPr/>
        </p:nvSpPr>
        <p:spPr>
          <a:xfrm>
            <a:off x="640080" y="1737360"/>
            <a:ext cx="6858000" cy="0"/>
          </a:xfrm>
          <a:prstGeom prst="rect">
            <a:avLst/>
          </a:prstGeom>
          <a:noFill/>
          <a:ln/>
        </p:spPr>
        <p:txBody>
          <a:bodyPr wrap="square" rtlCol="0" anchor="ctr"/>
          <a:lstStyle/>
          <a:p>
            <a:pPr indent="0" marL="0">
              <a:buNone/>
            </a:pPr>
            <a:r>
              <a:rPr lang="en-US" sz="1200" b="1" dirty="0">
                <a:solidFill>
                  <a:srgbClr val="10B981"/>
                </a:solidFill>
              </a:rPr>
              <a:t>STRENGTHS</a:t>
            </a:r>
            <a:endParaRPr lang="en-US" sz="1200" dirty="0"/>
          </a:p>
        </p:txBody>
      </p:sp>
      <p:sp>
        <p:nvSpPr>
          <p:cNvPr id="7" name="Text 5"/>
          <p:cNvSpPr/>
          <p:nvPr/>
        </p:nvSpPr>
        <p:spPr>
          <a:xfrm>
            <a:off x="640080" y="2103120"/>
            <a:ext cx="3657600" cy="0"/>
          </a:xfrm>
          <a:prstGeom prst="rect">
            <a:avLst/>
          </a:prstGeom>
          <a:noFill/>
          <a:ln/>
        </p:spPr>
        <p:txBody>
          <a:bodyPr wrap="square" rtlCol="0" anchor="ctr"/>
          <a:lstStyle/>
          <a:p>
            <a:pPr indent="0" marL="0">
              <a:buNone/>
            </a:pPr>
            <a:r>
              <a:rPr lang="en-US" sz="1200" dirty="0">
                <a:solidFill>
                  <a:srgbClr val="FFFFFF"/>
                </a:solidFill>
              </a:rPr>
              <a:t>• Best-selling automaker globally (5.5M units H1 2025).</a:t>
            </a:r>
            <a:endParaRPr lang="en-US" sz="1200" dirty="0"/>
          </a:p>
          <a:p>
            <a:pPr indent="0" marL="0">
              <a:buNone/>
            </a:pPr>
            <a:r>
              <a:rPr lang="en-US" sz="1200" dirty="0">
                <a:solidFill>
                  <a:srgbClr val="FFFFFF"/>
                </a:solidFill>
              </a:rPr>
              <a:t>• Resilient Toyota Production System (TPS).</a:t>
            </a:r>
            <a:endParaRPr lang="en-US" sz="1200" dirty="0"/>
          </a:p>
          <a:p>
            <a:pPr indent="0" marL="0">
              <a:buNone/>
            </a:pPr>
            <a:r>
              <a:rPr lang="en-US" sz="1200" dirty="0">
                <a:solidFill>
                  <a:srgbClr val="FFFFFF"/>
                </a:solidFill>
              </a:rPr>
              <a:t>• Multi-pathway portfolio (ICE, HEV, PHEV, BEV, FCEV).</a:t>
            </a:r>
            <a:endParaRPr lang="en-US" sz="1200" dirty="0"/>
          </a:p>
        </p:txBody>
      </p:sp>
      <p:sp>
        <p:nvSpPr>
          <p:cNvPr id="8" name="Shape 6"/>
          <p:cNvSpPr/>
          <p:nvPr/>
        </p:nvSpPr>
        <p:spPr>
          <a:xfrm>
            <a:off x="4572000" y="1554480"/>
            <a:ext cx="3931920" cy="1554480"/>
          </a:xfrm>
          <a:prstGeom prst="rect">
            <a:avLst/>
          </a:prstGeom>
          <a:solidFill>
            <a:srgbClr val="0F172A"/>
          </a:solidFill>
          <a:ln w="12700">
            <a:solidFill>
              <a:srgbClr val="F97316"/>
            </a:solidFill>
            <a:prstDash val="solid"/>
          </a:ln>
        </p:spPr>
      </p:sp>
      <p:sp>
        <p:nvSpPr>
          <p:cNvPr id="9" name="Text 7"/>
          <p:cNvSpPr/>
          <p:nvPr/>
        </p:nvSpPr>
        <p:spPr>
          <a:xfrm>
            <a:off x="4754880" y="1737360"/>
            <a:ext cx="6858000" cy="0"/>
          </a:xfrm>
          <a:prstGeom prst="rect">
            <a:avLst/>
          </a:prstGeom>
          <a:noFill/>
          <a:ln/>
        </p:spPr>
        <p:txBody>
          <a:bodyPr wrap="square" rtlCol="0" anchor="ctr"/>
          <a:lstStyle/>
          <a:p>
            <a:pPr indent="0" marL="0">
              <a:buNone/>
            </a:pPr>
            <a:r>
              <a:rPr lang="en-US" sz="1200" b="1" dirty="0">
                <a:solidFill>
                  <a:srgbClr val="F97316"/>
                </a:solidFill>
              </a:rPr>
              <a:t>WEAKNESSES</a:t>
            </a:r>
            <a:endParaRPr lang="en-US" sz="1200" dirty="0"/>
          </a:p>
        </p:txBody>
      </p:sp>
      <p:sp>
        <p:nvSpPr>
          <p:cNvPr id="10" name="Text 8"/>
          <p:cNvSpPr/>
          <p:nvPr/>
        </p:nvSpPr>
        <p:spPr>
          <a:xfrm>
            <a:off x="4754880" y="2103120"/>
            <a:ext cx="3657600" cy="0"/>
          </a:xfrm>
          <a:prstGeom prst="rect">
            <a:avLst/>
          </a:prstGeom>
          <a:noFill/>
          <a:ln/>
        </p:spPr>
        <p:txBody>
          <a:bodyPr wrap="square" rtlCol="0" anchor="ctr"/>
          <a:lstStyle/>
          <a:p>
            <a:pPr indent="0" marL="0">
              <a:buNone/>
            </a:pPr>
            <a:r>
              <a:rPr lang="en-US" sz="1200" dirty="0">
                <a:solidFill>
                  <a:srgbClr val="FFFFFF"/>
                </a:solidFill>
              </a:rPr>
              <a:t>• Over-reliance on domestic market and US trucks.</a:t>
            </a:r>
            <a:endParaRPr lang="en-US" sz="1200" dirty="0"/>
          </a:p>
          <a:p>
            <a:pPr indent="0" marL="0">
              <a:buNone/>
            </a:pPr>
            <a:r>
              <a:rPr lang="en-US" sz="1200" dirty="0">
                <a:solidFill>
                  <a:srgbClr val="FFFFFF"/>
                </a:solidFill>
              </a:rPr>
              <a:t>• Bureaucratic rigidity slowing agile decisions.</a:t>
            </a:r>
            <a:endParaRPr lang="en-US" sz="1200" dirty="0"/>
          </a:p>
          <a:p>
            <a:pPr indent="0" marL="0">
              <a:buNone/>
            </a:pPr>
            <a:r>
              <a:rPr lang="en-US" sz="1200" dirty="0">
                <a:solidFill>
                  <a:srgbClr val="FFFFFF"/>
                </a:solidFill>
              </a:rPr>
              <a:t>• Operating margins compressed to 10.0% due to capital expenditure on BEVs.</a:t>
            </a:r>
            <a:endParaRPr lang="en-US" sz="1200" dirty="0"/>
          </a:p>
        </p:txBody>
      </p:sp>
      <p:sp>
        <p:nvSpPr>
          <p:cNvPr id="11" name="Shape 9"/>
          <p:cNvSpPr/>
          <p:nvPr/>
        </p:nvSpPr>
        <p:spPr>
          <a:xfrm>
            <a:off x="457200" y="3291840"/>
            <a:ext cx="3931920" cy="1554480"/>
          </a:xfrm>
          <a:prstGeom prst="rect">
            <a:avLst/>
          </a:prstGeom>
          <a:solidFill>
            <a:srgbClr val="0F172A"/>
          </a:solidFill>
          <a:ln w="12700">
            <a:solidFill>
              <a:srgbClr val="3B82F6"/>
            </a:solidFill>
            <a:prstDash val="solid"/>
          </a:ln>
        </p:spPr>
      </p:sp>
      <p:sp>
        <p:nvSpPr>
          <p:cNvPr id="12" name="Text 10"/>
          <p:cNvSpPr/>
          <p:nvPr/>
        </p:nvSpPr>
        <p:spPr>
          <a:xfrm>
            <a:off x="640080" y="3474720"/>
            <a:ext cx="6858000" cy="0"/>
          </a:xfrm>
          <a:prstGeom prst="rect">
            <a:avLst/>
          </a:prstGeom>
          <a:noFill/>
          <a:ln/>
        </p:spPr>
        <p:txBody>
          <a:bodyPr wrap="square" rtlCol="0" anchor="ctr"/>
          <a:lstStyle/>
          <a:p>
            <a:pPr indent="0" marL="0">
              <a:buNone/>
            </a:pPr>
            <a:r>
              <a:rPr lang="en-US" sz="1200" b="1" dirty="0">
                <a:solidFill>
                  <a:srgbClr val="3B82F6"/>
                </a:solidFill>
              </a:rPr>
              <a:t>OPPORTUNITIES</a:t>
            </a:r>
            <a:endParaRPr lang="en-US" sz="1200" dirty="0"/>
          </a:p>
        </p:txBody>
      </p:sp>
      <p:sp>
        <p:nvSpPr>
          <p:cNvPr id="13" name="Text 11"/>
          <p:cNvSpPr/>
          <p:nvPr/>
        </p:nvSpPr>
        <p:spPr>
          <a:xfrm>
            <a:off x="640080" y="3840480"/>
            <a:ext cx="3657600" cy="0"/>
          </a:xfrm>
          <a:prstGeom prst="rect">
            <a:avLst/>
          </a:prstGeom>
          <a:noFill/>
          <a:ln/>
        </p:spPr>
        <p:txBody>
          <a:bodyPr wrap="square" rtlCol="0" anchor="ctr"/>
          <a:lstStyle/>
          <a:p>
            <a:pPr indent="0" marL="0">
              <a:buNone/>
            </a:pPr>
            <a:r>
              <a:rPr lang="en-US" sz="1200" dirty="0">
                <a:solidFill>
                  <a:srgbClr val="FFFFFF"/>
                </a:solidFill>
              </a:rPr>
              <a:t>• Weak Yen boosting export profitability.</a:t>
            </a:r>
            <a:endParaRPr lang="en-US" sz="1200" dirty="0"/>
          </a:p>
          <a:p>
            <a:pPr indent="0" marL="0">
              <a:buNone/>
            </a:pPr>
            <a:r>
              <a:rPr lang="en-US" sz="1200" dirty="0">
                <a:solidFill>
                  <a:srgbClr val="FFFFFF"/>
                </a:solidFill>
              </a:rPr>
              <a:t>• Surging hybrid demand against range anxiety.</a:t>
            </a:r>
            <a:endParaRPr lang="en-US" sz="1200" dirty="0"/>
          </a:p>
          <a:p>
            <a:pPr indent="0" marL="0">
              <a:buNone/>
            </a:pPr>
            <a:r>
              <a:rPr lang="en-US" sz="1200" dirty="0">
                <a:solidFill>
                  <a:srgbClr val="FFFFFF"/>
                </a:solidFill>
              </a:rPr>
              <a:t>• Government subsidies for eco-mobility localization.</a:t>
            </a:r>
            <a:endParaRPr lang="en-US" sz="1200" dirty="0"/>
          </a:p>
        </p:txBody>
      </p:sp>
      <p:sp>
        <p:nvSpPr>
          <p:cNvPr id="14" name="Shape 12"/>
          <p:cNvSpPr/>
          <p:nvPr/>
        </p:nvSpPr>
        <p:spPr>
          <a:xfrm>
            <a:off x="4572000" y="3291840"/>
            <a:ext cx="3931920" cy="1554480"/>
          </a:xfrm>
          <a:prstGeom prst="rect">
            <a:avLst/>
          </a:prstGeom>
          <a:solidFill>
            <a:srgbClr val="0F172A"/>
          </a:solidFill>
          <a:ln w="12700">
            <a:solidFill>
              <a:srgbClr val="EF4444"/>
            </a:solidFill>
            <a:prstDash val="solid"/>
          </a:ln>
        </p:spPr>
      </p:sp>
      <p:sp>
        <p:nvSpPr>
          <p:cNvPr id="15" name="Text 13"/>
          <p:cNvSpPr/>
          <p:nvPr/>
        </p:nvSpPr>
        <p:spPr>
          <a:xfrm>
            <a:off x="4754880" y="3474720"/>
            <a:ext cx="6858000" cy="0"/>
          </a:xfrm>
          <a:prstGeom prst="rect">
            <a:avLst/>
          </a:prstGeom>
          <a:noFill/>
          <a:ln/>
        </p:spPr>
        <p:txBody>
          <a:bodyPr wrap="square" rtlCol="0" anchor="ctr"/>
          <a:lstStyle/>
          <a:p>
            <a:pPr indent="0" marL="0">
              <a:buNone/>
            </a:pPr>
            <a:r>
              <a:rPr lang="en-US" sz="1200" b="1" dirty="0">
                <a:solidFill>
                  <a:srgbClr val="EF4444"/>
                </a:solidFill>
              </a:rPr>
              <a:t>THREATS</a:t>
            </a:r>
            <a:endParaRPr lang="en-US" sz="1200" dirty="0"/>
          </a:p>
        </p:txBody>
      </p:sp>
      <p:sp>
        <p:nvSpPr>
          <p:cNvPr id="16" name="Text 14"/>
          <p:cNvSpPr/>
          <p:nvPr/>
        </p:nvSpPr>
        <p:spPr>
          <a:xfrm>
            <a:off x="4754880" y="3840480"/>
            <a:ext cx="3657600" cy="0"/>
          </a:xfrm>
          <a:prstGeom prst="rect">
            <a:avLst/>
          </a:prstGeom>
          <a:noFill/>
          <a:ln/>
        </p:spPr>
        <p:txBody>
          <a:bodyPr wrap="square" rtlCol="0" anchor="ctr"/>
          <a:lstStyle/>
          <a:p>
            <a:pPr indent="0" marL="0">
              <a:buNone/>
            </a:pPr>
            <a:r>
              <a:rPr lang="en-US" sz="1200" dirty="0">
                <a:solidFill>
                  <a:srgbClr val="FFFFFF"/>
                </a:solidFill>
              </a:rPr>
              <a:t>• Geopolitical instability and escalating US tariffs.</a:t>
            </a:r>
            <a:endParaRPr lang="en-US" sz="1200" dirty="0"/>
          </a:p>
          <a:p>
            <a:pPr indent="0" marL="0">
              <a:buNone/>
            </a:pPr>
            <a:r>
              <a:rPr lang="en-US" sz="1200" dirty="0">
                <a:solidFill>
                  <a:srgbClr val="FFFFFF"/>
                </a:solidFill>
              </a:rPr>
              <a:t>• Aggressive low-cost Chinese EV OEMs (BYD, NIO).</a:t>
            </a:r>
            <a:endParaRPr lang="en-US" sz="1200" dirty="0"/>
          </a:p>
          <a:p>
            <a:pPr indent="0" marL="0">
              <a:buNone/>
            </a:pPr>
            <a:r>
              <a:rPr lang="en-US" sz="1200" dirty="0">
                <a:solidFill>
                  <a:srgbClr val="FFFFFF"/>
                </a:solidFill>
              </a:rPr>
              <a:t>• Legislative shifting of EV tax credits.</a:t>
            </a:r>
            <a:endParaRPr lang="en-US" sz="12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2: PLANNING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TOWS prescriptions</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6858000" cy="914400"/>
        </p:xfrm>
        <a:graphic>
          <a:graphicData uri="http://schemas.openxmlformats.org/drawingml/2006/table">
            <a:tbl>
              <a:tblPr/>
              <a:tblGrid>
                <a:gridCol w="1828800"/>
                <a:gridCol w="6400800"/>
              </a:tblGrid>
              <a:tr h="457200">
                <a:tc>
                  <a:txBody>
                    <a:bodyPr/>
                    <a:lstStyle/>
                    <a:p>
                      <a:pPr indent="0" marL="0">
                        <a:buNone/>
                      </a:pPr>
                      <a:r>
                        <a:rPr lang="en-US" sz="1200" b="1" dirty="0">
                          <a:solidFill>
                            <a:srgbClr val="FFFFFF"/>
                          </a:solidFill>
                        </a:rPr>
                        <a:t>Strategy</a:t>
                      </a:r>
                      <a:endParaRPr lang="en-US" sz="1200" dirty="0"/>
                    </a:p>
                  </a:txBody>
                  <a:tcPr marL="91440" marR="91440" marT="45720" marB="45720" anchor="t">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Action</a:t>
                      </a:r>
                      <a:endParaRPr lang="en-US" sz="1200" dirty="0"/>
                    </a:p>
                  </a:txBody>
                  <a:tcPr marL="91440" marR="91440" marT="45720" marB="45720" anchor="t">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457200">
                <a:tc>
                  <a:txBody>
                    <a:bodyPr/>
                    <a:lstStyle/>
                    <a:p>
                      <a:pPr indent="0" marL="0">
                        <a:buNone/>
                      </a:pPr>
                      <a:r>
                        <a:rPr lang="en-US" sz="1200" b="1" dirty="0">
                          <a:solidFill>
                            <a:srgbClr val="10B981"/>
                          </a:solidFill>
                        </a:rPr>
                        <a:t>SO: Maxi-Maxi</a:t>
                      </a:r>
                      <a:endParaRPr lang="en-US" sz="1200" dirty="0"/>
                    </a:p>
                    <a:p>
                      <a:pPr indent="0" marL="0">
                        <a:buNone/>
                      </a:pPr>
                      <a:r>
                        <a:rPr lang="en-US" sz="1200" b="1" dirty="0">
                          <a:solidFill>
                            <a:srgbClr val="10B981"/>
                          </a:solidFill>
                        </a:rPr>
                        <a:t>(Leveraging strengths)</a:t>
                      </a:r>
                      <a:endParaRPr lang="en-US" sz="1200" dirty="0"/>
                    </a:p>
                  </a:txBody>
                  <a:tcPr marL="91440" marR="91440" marT="45720" marB="45720" anchor="t">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00" dirty="0">
                          <a:solidFill>
                            <a:srgbClr val="FFFFFF"/>
                          </a:solidFill>
                        </a:rPr>
                        <a:t>Monetize the sustained weak Yen by aggressively scaling exports of high-margin hybrids from Japanese plants. Simultaneously, lead government-subsidized electrification initiatives globally by utilizing existing operational scale.</a:t>
                      </a:r>
                      <a:endParaRPr lang="en-US" sz="1200" dirty="0"/>
                    </a:p>
                  </a:txBody>
                  <a:tcPr marL="91440" marR="91440" marT="45720" marB="45720" anchor="t">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457200">
                <a:tc>
                  <a:txBody>
                    <a:bodyPr/>
                    <a:lstStyle/>
                    <a:p>
                      <a:pPr indent="0" marL="0">
                        <a:buNone/>
                      </a:pPr>
                      <a:r>
                        <a:rPr lang="en-US" sz="1200" b="1" dirty="0">
                          <a:solidFill>
                            <a:srgbClr val="F97316"/>
                          </a:solidFill>
                        </a:rPr>
                        <a:t>WO: Mini-Maxi</a:t>
                      </a:r>
                      <a:endParaRPr lang="en-US" sz="1200" dirty="0"/>
                    </a:p>
                    <a:p>
                      <a:pPr indent="0" marL="0">
                        <a:buNone/>
                      </a:pPr>
                      <a:r>
                        <a:rPr lang="en-US" sz="1200" b="1" dirty="0">
                          <a:solidFill>
                            <a:srgbClr val="F97316"/>
                          </a:solidFill>
                        </a:rPr>
                        <a:t>(Overcoming weaknesses)</a:t>
                      </a:r>
                      <a:endParaRPr lang="en-US" sz="1200" dirty="0"/>
                    </a:p>
                  </a:txBody>
                  <a:tcPr marL="91440" marR="91440" marT="45720" marB="45720" anchor="t">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00" dirty="0">
                          <a:solidFill>
                            <a:srgbClr val="FFFFFF"/>
                          </a:solidFill>
                        </a:rPr>
                        <a:t>Systematically tap into lucrative government green incentives to aggressively fund and de-risk the massive $13.9B North Carolina battery manufacturing plant, closing the BEV tech lag.</a:t>
                      </a:r>
                      <a:endParaRPr lang="en-US" sz="1200" dirty="0"/>
                    </a:p>
                  </a:txBody>
                  <a:tcPr marL="91440" marR="91440" marT="45720" marB="45720" anchor="t">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457200">
                <a:tc>
                  <a:txBody>
                    <a:bodyPr/>
                    <a:lstStyle/>
                    <a:p>
                      <a:pPr indent="0" marL="0">
                        <a:buNone/>
                      </a:pPr>
                      <a:r>
                        <a:rPr lang="en-US" sz="1200" b="1" dirty="0">
                          <a:solidFill>
                            <a:srgbClr val="EF4444"/>
                          </a:solidFill>
                        </a:rPr>
                        <a:t>WT: Mini-Mini</a:t>
                      </a:r>
                      <a:endParaRPr lang="en-US" sz="1200" dirty="0"/>
                    </a:p>
                    <a:p>
                      <a:pPr indent="0" marL="0">
                        <a:buNone/>
                      </a:pPr>
                      <a:r>
                        <a:rPr lang="en-US" sz="1200" b="1" dirty="0">
                          <a:solidFill>
                            <a:srgbClr val="EF4444"/>
                          </a:solidFill>
                        </a:rPr>
                        <a:t>(Defensive posturing)</a:t>
                      </a:r>
                      <a:endParaRPr lang="en-US" sz="1200" dirty="0"/>
                    </a:p>
                  </a:txBody>
                  <a:tcPr marL="91440" marR="91440" marT="45720" marB="45720" anchor="t">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00" dirty="0">
                          <a:solidFill>
                            <a:srgbClr val="FFFFFF"/>
                          </a:solidFill>
                        </a:rPr>
                        <a:t>Aggressively preempt shifting trade wars by reducing corporate break-even volumes. Restructure operations to withstand margin compression by enforcing extreme lean manufacturing efficiencies.</a:t>
                      </a:r>
                      <a:endParaRPr lang="en-US" sz="1200" dirty="0"/>
                    </a:p>
                  </a:txBody>
                  <a:tcPr marL="91440" marR="91440" marT="45720" marB="45720" anchor="t">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bl>
          </a:graphicData>
        </a:graphic>
      </p:graphicFrame>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2: PLANNING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Blue ocean (ERRC)</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6858000" cy="0"/>
          </a:xfrm>
          <a:prstGeom prst="rect">
            <a:avLst/>
          </a:prstGeom>
          <a:noFill/>
          <a:ln/>
        </p:spPr>
        <p:txBody>
          <a:bodyPr wrap="square" rtlCol="0" anchor="ctr"/>
          <a:lstStyle/>
          <a:p>
            <a:pPr indent="0" marL="0">
              <a:buNone/>
            </a:pPr>
            <a:r>
              <a:rPr lang="en-US" sz="1400" b="1" dirty="0">
                <a:solidFill>
                  <a:srgbClr val="EF4444"/>
                </a:solidFill>
              </a:rPr>
              <a:t>ELIMINATE</a:t>
            </a:r>
            <a:endParaRPr lang="en-US" sz="1400" dirty="0"/>
          </a:p>
        </p:txBody>
      </p:sp>
      <p:sp>
        <p:nvSpPr>
          <p:cNvPr id="6" name="Text 4"/>
          <p:cNvSpPr/>
          <p:nvPr/>
        </p:nvSpPr>
        <p:spPr>
          <a:xfrm>
            <a:off x="457200" y="1920240"/>
            <a:ext cx="3657600" cy="0"/>
          </a:xfrm>
          <a:prstGeom prst="rect">
            <a:avLst/>
          </a:prstGeom>
          <a:noFill/>
          <a:ln/>
        </p:spPr>
        <p:txBody>
          <a:bodyPr wrap="square" rtlCol="0" anchor="ctr"/>
          <a:lstStyle/>
          <a:p>
            <a:pPr indent="0" marL="0">
              <a:buNone/>
            </a:pPr>
            <a:r>
              <a:rPr lang="en-US" sz="1200" dirty="0">
                <a:solidFill>
                  <a:srgbClr val="FFFFFF"/>
                </a:solidFill>
              </a:rPr>
              <a:t>The archaic single-powertrain dependency across new model platforms. Future vehicle platforms must natively support ICE, HEV, and BEV drivetrains interchangeably on the exact same assembly lines to eliminate re-tooling dead time.</a:t>
            </a:r>
            <a:endParaRPr lang="en-US" sz="1200" dirty="0"/>
          </a:p>
        </p:txBody>
      </p:sp>
      <p:sp>
        <p:nvSpPr>
          <p:cNvPr id="7" name="Text 5"/>
          <p:cNvSpPr/>
          <p:nvPr/>
        </p:nvSpPr>
        <p:spPr>
          <a:xfrm>
            <a:off x="4572000" y="1645920"/>
            <a:ext cx="6858000" cy="0"/>
          </a:xfrm>
          <a:prstGeom prst="rect">
            <a:avLst/>
          </a:prstGeom>
          <a:noFill/>
          <a:ln/>
        </p:spPr>
        <p:txBody>
          <a:bodyPr wrap="square" rtlCol="0" anchor="ctr"/>
          <a:lstStyle/>
          <a:p>
            <a:pPr indent="0" marL="0">
              <a:buNone/>
            </a:pPr>
            <a:r>
              <a:rPr lang="en-US" sz="1400" b="1" dirty="0">
                <a:solidFill>
                  <a:srgbClr val="F97316"/>
                </a:solidFill>
              </a:rPr>
              <a:t>REDUCE</a:t>
            </a:r>
            <a:endParaRPr lang="en-US" sz="1400" dirty="0"/>
          </a:p>
        </p:txBody>
      </p:sp>
      <p:sp>
        <p:nvSpPr>
          <p:cNvPr id="8" name="Text 6"/>
          <p:cNvSpPr/>
          <p:nvPr/>
        </p:nvSpPr>
        <p:spPr>
          <a:xfrm>
            <a:off x="4572000" y="1920240"/>
            <a:ext cx="3657600" cy="0"/>
          </a:xfrm>
          <a:prstGeom prst="rect">
            <a:avLst/>
          </a:prstGeom>
          <a:noFill/>
          <a:ln/>
        </p:spPr>
        <p:txBody>
          <a:bodyPr wrap="square" rtlCol="0" anchor="ctr"/>
          <a:lstStyle/>
          <a:p>
            <a:pPr indent="0" marL="0">
              <a:buNone/>
            </a:pPr>
            <a:r>
              <a:rPr lang="en-US" sz="1200" dirty="0">
                <a:solidFill>
                  <a:srgbClr val="FFFFFF"/>
                </a:solidFill>
              </a:rPr>
              <a:t>Corporate break-even volume and crippling reliance on hyper-expensive, rare-earth intensive battery-only architectures that restrict profitability to high-income luxury demographics.</a:t>
            </a:r>
            <a:endParaRPr lang="en-US" sz="1200" dirty="0"/>
          </a:p>
        </p:txBody>
      </p:sp>
      <p:sp>
        <p:nvSpPr>
          <p:cNvPr id="9" name="Text 7"/>
          <p:cNvSpPr/>
          <p:nvPr/>
        </p:nvSpPr>
        <p:spPr>
          <a:xfrm>
            <a:off x="457200" y="3291840"/>
            <a:ext cx="6858000" cy="0"/>
          </a:xfrm>
          <a:prstGeom prst="rect">
            <a:avLst/>
          </a:prstGeom>
          <a:noFill/>
          <a:ln/>
        </p:spPr>
        <p:txBody>
          <a:bodyPr wrap="square" rtlCol="0" anchor="ctr"/>
          <a:lstStyle/>
          <a:p>
            <a:pPr indent="0" marL="0">
              <a:buNone/>
            </a:pPr>
            <a:r>
              <a:rPr lang="en-US" sz="1400" b="1" dirty="0">
                <a:solidFill>
                  <a:srgbClr val="10B981"/>
                </a:solidFill>
              </a:rPr>
              <a:t>RAISE</a:t>
            </a:r>
            <a:endParaRPr lang="en-US" sz="1400" dirty="0"/>
          </a:p>
        </p:txBody>
      </p:sp>
      <p:sp>
        <p:nvSpPr>
          <p:cNvPr id="10" name="Text 8"/>
          <p:cNvSpPr/>
          <p:nvPr/>
        </p:nvSpPr>
        <p:spPr>
          <a:xfrm>
            <a:off x="457200" y="3566160"/>
            <a:ext cx="3657600" cy="0"/>
          </a:xfrm>
          <a:prstGeom prst="rect">
            <a:avLst/>
          </a:prstGeom>
          <a:noFill/>
          <a:ln/>
        </p:spPr>
        <p:txBody>
          <a:bodyPr wrap="square" rtlCol="0" anchor="ctr"/>
          <a:lstStyle/>
          <a:p>
            <a:pPr indent="0" marL="0">
              <a:buNone/>
            </a:pPr>
            <a:r>
              <a:rPr lang="en-US" sz="1200" dirty="0">
                <a:solidFill>
                  <a:srgbClr val="FFFFFF"/>
                </a:solidFill>
              </a:rPr>
              <a:t>The global accessibility of electrified and sustainable mobility via affordable, highly durable HEV (hybrid) models across lower-to-middle income brackets practically everywhere.</a:t>
            </a:r>
            <a:endParaRPr lang="en-US" sz="1200" dirty="0"/>
          </a:p>
        </p:txBody>
      </p:sp>
      <p:sp>
        <p:nvSpPr>
          <p:cNvPr id="11" name="Text 9"/>
          <p:cNvSpPr/>
          <p:nvPr/>
        </p:nvSpPr>
        <p:spPr>
          <a:xfrm>
            <a:off x="4572000" y="3291840"/>
            <a:ext cx="6858000" cy="0"/>
          </a:xfrm>
          <a:prstGeom prst="rect">
            <a:avLst/>
          </a:prstGeom>
          <a:noFill/>
          <a:ln/>
        </p:spPr>
        <p:txBody>
          <a:bodyPr wrap="square" rtlCol="0" anchor="ctr"/>
          <a:lstStyle/>
          <a:p>
            <a:pPr indent="0" marL="0">
              <a:buNone/>
            </a:pPr>
            <a:r>
              <a:rPr lang="en-US" sz="1400" b="1" dirty="0">
                <a:solidFill>
                  <a:srgbClr val="3B82F6"/>
                </a:solidFill>
              </a:rPr>
              <a:t>CREATE</a:t>
            </a:r>
            <a:endParaRPr lang="en-US" sz="1400" dirty="0"/>
          </a:p>
        </p:txBody>
      </p:sp>
      <p:sp>
        <p:nvSpPr>
          <p:cNvPr id="12" name="Text 10"/>
          <p:cNvSpPr/>
          <p:nvPr/>
        </p:nvSpPr>
        <p:spPr>
          <a:xfrm>
            <a:off x="4572000" y="3566160"/>
            <a:ext cx="3657600" cy="0"/>
          </a:xfrm>
          <a:prstGeom prst="rect">
            <a:avLst/>
          </a:prstGeom>
          <a:noFill/>
          <a:ln/>
        </p:spPr>
        <p:txBody>
          <a:bodyPr wrap="square" rtlCol="0" anchor="ctr"/>
          <a:lstStyle/>
          <a:p>
            <a:pPr indent="0" marL="0">
              <a:buNone/>
            </a:pPr>
            <a:r>
              <a:rPr lang="en-US" sz="1200" dirty="0">
                <a:solidFill>
                  <a:srgbClr val="FFFFFF"/>
                </a:solidFill>
              </a:rPr>
              <a:t>A post-hardware "Mobility-as-a-Service" paradigm under the Beyond Zero initiative, deeply integrating physical cars with interconnected smart city grids and the globally synchronized "Digital Obeya" management cloud.</a:t>
            </a:r>
            <a:endParaRPr lang="en-US" sz="12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2: PLANNING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BCG matrix</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6858000" cy="0"/>
          </a:xfrm>
          <a:prstGeom prst="rect">
            <a:avLst/>
          </a:prstGeom>
          <a:noFill/>
          <a:ln/>
        </p:spPr>
        <p:txBody>
          <a:bodyPr wrap="square" rtlCol="0" anchor="ctr"/>
          <a:lstStyle/>
          <a:p>
            <a:pPr indent="0" marL="0">
              <a:buNone/>
            </a:pPr>
            <a:r>
              <a:rPr lang="en-US" sz="1400" b="1" dirty="0">
                <a:solidFill>
                  <a:srgbClr val="3B82F6"/>
                </a:solidFill>
              </a:rPr>
              <a:t>STARS</a:t>
            </a:r>
            <a:endParaRPr lang="en-US" sz="1400" dirty="0"/>
          </a:p>
        </p:txBody>
      </p:sp>
      <p:sp>
        <p:nvSpPr>
          <p:cNvPr id="6" name="Text 4"/>
          <p:cNvSpPr/>
          <p:nvPr/>
        </p:nvSpPr>
        <p:spPr>
          <a:xfrm>
            <a:off x="457200" y="1920240"/>
            <a:ext cx="3657600" cy="0"/>
          </a:xfrm>
          <a:prstGeom prst="rect">
            <a:avLst/>
          </a:prstGeom>
          <a:noFill/>
          <a:ln/>
        </p:spPr>
        <p:txBody>
          <a:bodyPr wrap="square" rtlCol="0" anchor="ctr"/>
          <a:lstStyle/>
          <a:p>
            <a:pPr indent="0" marL="0">
              <a:buNone/>
            </a:pPr>
            <a:r>
              <a:rPr lang="en-US" sz="1200" dirty="0">
                <a:solidFill>
                  <a:srgbClr val="FFFFFF"/>
                </a:solidFill>
              </a:rPr>
              <a:t>HEV (Hybrids) &amp; RAV4/Camry</a:t>
            </a:r>
            <a:endParaRPr lang="en-US" sz="1200" dirty="0"/>
          </a:p>
          <a:p>
            <a:pPr indent="0" marL="0">
              <a:buNone/>
            </a:pPr>
            <a:r>
              <a:rPr lang="en-US" sz="1200" dirty="0">
                <a:solidFill>
                  <a:srgbClr val="FFFFFF"/>
                </a:solidFill>
              </a:rPr>
              <a:t>High share, high growth. Current primary revenue drivers capturing transitional demand brilliantly.</a:t>
            </a:r>
            <a:endParaRPr lang="en-US" sz="1200" dirty="0"/>
          </a:p>
        </p:txBody>
      </p:sp>
      <p:sp>
        <p:nvSpPr>
          <p:cNvPr id="7" name="Text 5"/>
          <p:cNvSpPr/>
          <p:nvPr/>
        </p:nvSpPr>
        <p:spPr>
          <a:xfrm>
            <a:off x="4572000" y="1645920"/>
            <a:ext cx="6858000" cy="0"/>
          </a:xfrm>
          <a:prstGeom prst="rect">
            <a:avLst/>
          </a:prstGeom>
          <a:noFill/>
          <a:ln/>
        </p:spPr>
        <p:txBody>
          <a:bodyPr wrap="square" rtlCol="0" anchor="ctr"/>
          <a:lstStyle/>
          <a:p>
            <a:pPr indent="0" marL="0">
              <a:buNone/>
            </a:pPr>
            <a:r>
              <a:rPr lang="en-US" sz="1400" b="1" dirty="0">
                <a:solidFill>
                  <a:srgbClr val="A855F7"/>
                </a:solidFill>
              </a:rPr>
              <a:t>QUESTION MARKS</a:t>
            </a:r>
            <a:endParaRPr lang="en-US" sz="1400" dirty="0"/>
          </a:p>
        </p:txBody>
      </p:sp>
      <p:sp>
        <p:nvSpPr>
          <p:cNvPr id="8" name="Text 6"/>
          <p:cNvSpPr/>
          <p:nvPr/>
        </p:nvSpPr>
        <p:spPr>
          <a:xfrm>
            <a:off x="4572000" y="1920240"/>
            <a:ext cx="3657600" cy="0"/>
          </a:xfrm>
          <a:prstGeom prst="rect">
            <a:avLst/>
          </a:prstGeom>
          <a:noFill/>
          <a:ln/>
        </p:spPr>
        <p:txBody>
          <a:bodyPr wrap="square" rtlCol="0" anchor="ctr"/>
          <a:lstStyle/>
          <a:p>
            <a:pPr indent="0" marL="0">
              <a:buNone/>
            </a:pPr>
            <a:r>
              <a:rPr lang="en-US" sz="1200" dirty="0">
                <a:solidFill>
                  <a:srgbClr val="FFFFFF"/>
                </a:solidFill>
              </a:rPr>
              <a:t>BEV (bZ4X) &amp; Hydrogen (Mirai)</a:t>
            </a:r>
            <a:endParaRPr lang="en-US" sz="1200" dirty="0"/>
          </a:p>
          <a:p>
            <a:pPr indent="0" marL="0">
              <a:buNone/>
            </a:pPr>
            <a:r>
              <a:rPr lang="en-US" sz="1200" dirty="0">
                <a:solidFill>
                  <a:srgbClr val="FFFFFF"/>
                </a:solidFill>
              </a:rPr>
              <a:t>Low share, high growth. Require disproportionate, massive R&amp;D capital injections to secure a long-term future footing.</a:t>
            </a:r>
            <a:endParaRPr lang="en-US" sz="1200" dirty="0"/>
          </a:p>
        </p:txBody>
      </p:sp>
      <p:sp>
        <p:nvSpPr>
          <p:cNvPr id="9" name="Text 7"/>
          <p:cNvSpPr/>
          <p:nvPr/>
        </p:nvSpPr>
        <p:spPr>
          <a:xfrm>
            <a:off x="457200" y="3291840"/>
            <a:ext cx="6858000" cy="0"/>
          </a:xfrm>
          <a:prstGeom prst="rect">
            <a:avLst/>
          </a:prstGeom>
          <a:noFill/>
          <a:ln/>
        </p:spPr>
        <p:txBody>
          <a:bodyPr wrap="square" rtlCol="0" anchor="ctr"/>
          <a:lstStyle/>
          <a:p>
            <a:pPr indent="0" marL="0">
              <a:buNone/>
            </a:pPr>
            <a:r>
              <a:rPr lang="en-US" sz="1400" b="1" dirty="0">
                <a:solidFill>
                  <a:srgbClr val="10B981"/>
                </a:solidFill>
              </a:rPr>
              <a:t>CASH COWS</a:t>
            </a:r>
            <a:endParaRPr lang="en-US" sz="1400" dirty="0"/>
          </a:p>
        </p:txBody>
      </p:sp>
      <p:sp>
        <p:nvSpPr>
          <p:cNvPr id="10" name="Text 8"/>
          <p:cNvSpPr/>
          <p:nvPr/>
        </p:nvSpPr>
        <p:spPr>
          <a:xfrm>
            <a:off x="457200" y="3566160"/>
            <a:ext cx="3657600" cy="0"/>
          </a:xfrm>
          <a:prstGeom prst="rect">
            <a:avLst/>
          </a:prstGeom>
          <a:noFill/>
          <a:ln/>
        </p:spPr>
        <p:txBody>
          <a:bodyPr wrap="square" rtlCol="0" anchor="ctr"/>
          <a:lstStyle/>
          <a:p>
            <a:pPr indent="0" marL="0">
              <a:buNone/>
            </a:pPr>
            <a:r>
              <a:rPr lang="en-US" sz="1200" dirty="0">
                <a:solidFill>
                  <a:srgbClr val="FFFFFF"/>
                </a:solidFill>
              </a:rPr>
              <a:t>ICE Trucks &amp; SUVs (Tacoma)</a:t>
            </a:r>
            <a:endParaRPr lang="en-US" sz="1200" dirty="0"/>
          </a:p>
          <a:p>
            <a:pPr indent="0" marL="0">
              <a:buNone/>
            </a:pPr>
            <a:r>
              <a:rPr lang="en-US" sz="1200" dirty="0">
                <a:solidFill>
                  <a:srgbClr val="FFFFFF"/>
                </a:solidFill>
              </a:rPr>
              <a:t>High share, low growth. Highly profitable legacy models that generate immense free cash flow to fund R&amp;D electrification.</a:t>
            </a:r>
            <a:endParaRPr lang="en-US" sz="1200" dirty="0"/>
          </a:p>
        </p:txBody>
      </p:sp>
      <p:sp>
        <p:nvSpPr>
          <p:cNvPr id="11" name="Text 9"/>
          <p:cNvSpPr/>
          <p:nvPr/>
        </p:nvSpPr>
        <p:spPr>
          <a:xfrm>
            <a:off x="4572000" y="3291840"/>
            <a:ext cx="6858000" cy="0"/>
          </a:xfrm>
          <a:prstGeom prst="rect">
            <a:avLst/>
          </a:prstGeom>
          <a:noFill/>
          <a:ln/>
        </p:spPr>
        <p:txBody>
          <a:bodyPr wrap="square" rtlCol="0" anchor="ctr"/>
          <a:lstStyle/>
          <a:p>
            <a:pPr indent="0" marL="0">
              <a:buNone/>
            </a:pPr>
            <a:r>
              <a:rPr lang="en-US" sz="1400" b="1" dirty="0">
                <a:solidFill>
                  <a:srgbClr val="94A3B8"/>
                </a:solidFill>
              </a:rPr>
              <a:t>DOGS</a:t>
            </a:r>
            <a:endParaRPr lang="en-US" sz="1400" dirty="0"/>
          </a:p>
        </p:txBody>
      </p:sp>
      <p:sp>
        <p:nvSpPr>
          <p:cNvPr id="12" name="Text 10"/>
          <p:cNvSpPr/>
          <p:nvPr/>
        </p:nvSpPr>
        <p:spPr>
          <a:xfrm>
            <a:off x="4572000" y="3566160"/>
            <a:ext cx="3657600" cy="0"/>
          </a:xfrm>
          <a:prstGeom prst="rect">
            <a:avLst/>
          </a:prstGeom>
          <a:noFill/>
          <a:ln/>
        </p:spPr>
        <p:txBody>
          <a:bodyPr wrap="square" rtlCol="0" anchor="ctr"/>
          <a:lstStyle/>
          <a:p>
            <a:pPr indent="0" marL="0">
              <a:buNone/>
            </a:pPr>
            <a:r>
              <a:rPr lang="en-US" sz="1200" dirty="0">
                <a:solidFill>
                  <a:srgbClr val="FFFFFF"/>
                </a:solidFill>
              </a:rPr>
              <a:t>Compact &amp; Midsize ICE Sedans</a:t>
            </a:r>
            <a:endParaRPr lang="en-US" sz="1200" dirty="0"/>
          </a:p>
          <a:p>
            <a:pPr indent="0" marL="0">
              <a:buNone/>
            </a:pPr>
            <a:r>
              <a:rPr lang="en-US" sz="1200" dirty="0">
                <a:solidFill>
                  <a:srgbClr val="FFFFFF"/>
                </a:solidFill>
              </a:rPr>
              <a:t>Low share, low growth. Toyota is rapidly consolidating away from traditional sedan segments to prevent capital drift as consumers favor SUVs.</a:t>
            </a:r>
            <a:endParaRPr lang="en-US" sz="12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2: PLANNING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Porter's five forces</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6858000" cy="0"/>
          </a:xfrm>
          <a:prstGeom prst="rect">
            <a:avLst/>
          </a:prstGeom>
          <a:noFill/>
          <a:ln/>
        </p:spPr>
        <p:txBody>
          <a:bodyPr wrap="square" rtlCol="0" anchor="ctr"/>
          <a:lstStyle/>
          <a:p>
            <a:pPr indent="0" marL="0">
              <a:buNone/>
            </a:pPr>
            <a:r>
              <a:rPr lang="en-US" sz="1400" b="1" dirty="0">
                <a:solidFill>
                  <a:srgbClr val="EF4444"/>
                </a:solidFill>
              </a:rPr>
              <a:t>Rivalry (Very High)</a:t>
            </a:r>
            <a:endParaRPr lang="en-US" sz="1400" dirty="0"/>
          </a:p>
        </p:txBody>
      </p:sp>
      <p:sp>
        <p:nvSpPr>
          <p:cNvPr id="6" name="Text 4"/>
          <p:cNvSpPr/>
          <p:nvPr/>
        </p:nvSpPr>
        <p:spPr>
          <a:xfrm>
            <a:off x="457200" y="1920240"/>
            <a:ext cx="2286000" cy="0"/>
          </a:xfrm>
          <a:prstGeom prst="rect">
            <a:avLst/>
          </a:prstGeom>
          <a:noFill/>
          <a:ln/>
        </p:spPr>
        <p:txBody>
          <a:bodyPr wrap="square" rtlCol="0" anchor="ctr"/>
          <a:lstStyle/>
          <a:p>
            <a:pPr indent="0" marL="0">
              <a:buNone/>
            </a:pPr>
            <a:r>
              <a:rPr lang="en-US" sz="1200" dirty="0">
                <a:solidFill>
                  <a:srgbClr val="FFFFFF"/>
                </a:solidFill>
              </a:rPr>
              <a:t>Direct brutal confrontation with VW, Hyundai, and subsidized Chinese EV OEMs causing severe margin compression.</a:t>
            </a:r>
            <a:endParaRPr lang="en-US" sz="1200" dirty="0"/>
          </a:p>
        </p:txBody>
      </p:sp>
      <p:sp>
        <p:nvSpPr>
          <p:cNvPr id="7" name="Text 5"/>
          <p:cNvSpPr/>
          <p:nvPr/>
        </p:nvSpPr>
        <p:spPr>
          <a:xfrm>
            <a:off x="3200400" y="1645920"/>
            <a:ext cx="6858000" cy="0"/>
          </a:xfrm>
          <a:prstGeom prst="rect">
            <a:avLst/>
          </a:prstGeom>
          <a:noFill/>
          <a:ln/>
        </p:spPr>
        <p:txBody>
          <a:bodyPr wrap="square" rtlCol="0" anchor="ctr"/>
          <a:lstStyle/>
          <a:p>
            <a:pPr indent="0" marL="0">
              <a:buNone/>
            </a:pPr>
            <a:r>
              <a:rPr lang="en-US" sz="1400" b="1" dirty="0">
                <a:solidFill>
                  <a:srgbClr val="F97316"/>
                </a:solidFill>
              </a:rPr>
              <a:t>Buyers (Mod-High)</a:t>
            </a:r>
            <a:endParaRPr lang="en-US" sz="1400" dirty="0"/>
          </a:p>
        </p:txBody>
      </p:sp>
      <p:sp>
        <p:nvSpPr>
          <p:cNvPr id="8" name="Text 6"/>
          <p:cNvSpPr/>
          <p:nvPr/>
        </p:nvSpPr>
        <p:spPr>
          <a:xfrm>
            <a:off x="3200400" y="1920240"/>
            <a:ext cx="2286000" cy="0"/>
          </a:xfrm>
          <a:prstGeom prst="rect">
            <a:avLst/>
          </a:prstGeom>
          <a:noFill/>
          <a:ln/>
        </p:spPr>
        <p:txBody>
          <a:bodyPr wrap="square" rtlCol="0" anchor="ctr"/>
          <a:lstStyle/>
          <a:p>
            <a:pPr indent="0" marL="0">
              <a:buNone/>
            </a:pPr>
            <a:r>
              <a:rPr lang="en-US" sz="1200" dirty="0">
                <a:solidFill>
                  <a:srgbClr val="FFFFFF"/>
                </a:solidFill>
              </a:rPr>
              <a:t>Armed with digital pricing transparency; loss of tax credits amplifies intense price sensitivity for EVs.</a:t>
            </a:r>
            <a:endParaRPr lang="en-US" sz="1200" dirty="0"/>
          </a:p>
        </p:txBody>
      </p:sp>
      <p:sp>
        <p:nvSpPr>
          <p:cNvPr id="9" name="Text 7"/>
          <p:cNvSpPr/>
          <p:nvPr/>
        </p:nvSpPr>
        <p:spPr>
          <a:xfrm>
            <a:off x="5943600" y="1645920"/>
            <a:ext cx="6858000" cy="0"/>
          </a:xfrm>
          <a:prstGeom prst="rect">
            <a:avLst/>
          </a:prstGeom>
          <a:noFill/>
          <a:ln/>
        </p:spPr>
        <p:txBody>
          <a:bodyPr wrap="square" rtlCol="0" anchor="ctr"/>
          <a:lstStyle/>
          <a:p>
            <a:pPr indent="0" marL="0">
              <a:buNone/>
            </a:pPr>
            <a:r>
              <a:rPr lang="en-US" sz="1400" b="1" dirty="0">
                <a:solidFill>
                  <a:srgbClr val="F97316"/>
                </a:solidFill>
              </a:rPr>
              <a:t>Suppliers (Mod-High)</a:t>
            </a:r>
            <a:endParaRPr lang="en-US" sz="1400" dirty="0"/>
          </a:p>
        </p:txBody>
      </p:sp>
      <p:sp>
        <p:nvSpPr>
          <p:cNvPr id="10" name="Text 8"/>
          <p:cNvSpPr/>
          <p:nvPr/>
        </p:nvSpPr>
        <p:spPr>
          <a:xfrm>
            <a:off x="5943600" y="1920240"/>
            <a:ext cx="2286000" cy="0"/>
          </a:xfrm>
          <a:prstGeom prst="rect">
            <a:avLst/>
          </a:prstGeom>
          <a:noFill/>
          <a:ln/>
        </p:spPr>
        <p:txBody>
          <a:bodyPr wrap="square" rtlCol="0" anchor="ctr"/>
          <a:lstStyle/>
          <a:p>
            <a:pPr indent="0" marL="0">
              <a:buNone/>
            </a:pPr>
            <a:r>
              <a:rPr lang="en-US" sz="1200" dirty="0">
                <a:solidFill>
                  <a:srgbClr val="FFFFFF"/>
                </a:solidFill>
              </a:rPr>
              <a:t>Extortion leverage via rare-earth minerals countered by massive $13.9B vertical integration.</a:t>
            </a:r>
            <a:endParaRPr lang="en-US" sz="1200" dirty="0"/>
          </a:p>
        </p:txBody>
      </p:sp>
      <p:sp>
        <p:nvSpPr>
          <p:cNvPr id="11" name="Text 9"/>
          <p:cNvSpPr/>
          <p:nvPr/>
        </p:nvSpPr>
        <p:spPr>
          <a:xfrm>
            <a:off x="1371600" y="3200400"/>
            <a:ext cx="6858000" cy="0"/>
          </a:xfrm>
          <a:prstGeom prst="rect">
            <a:avLst/>
          </a:prstGeom>
          <a:noFill/>
          <a:ln/>
        </p:spPr>
        <p:txBody>
          <a:bodyPr wrap="square" rtlCol="0" anchor="ctr"/>
          <a:lstStyle/>
          <a:p>
            <a:pPr indent="0" marL="0">
              <a:buNone/>
            </a:pPr>
            <a:r>
              <a:rPr lang="en-US" sz="1400" b="1" dirty="0">
                <a:solidFill>
                  <a:srgbClr val="EAB308"/>
                </a:solidFill>
              </a:rPr>
              <a:t>New entrants (Moderate)</a:t>
            </a:r>
            <a:endParaRPr lang="en-US" sz="1400" dirty="0"/>
          </a:p>
        </p:txBody>
      </p:sp>
      <p:sp>
        <p:nvSpPr>
          <p:cNvPr id="12" name="Text 10"/>
          <p:cNvSpPr/>
          <p:nvPr/>
        </p:nvSpPr>
        <p:spPr>
          <a:xfrm>
            <a:off x="1371600" y="3474720"/>
            <a:ext cx="2743200" cy="0"/>
          </a:xfrm>
          <a:prstGeom prst="rect">
            <a:avLst/>
          </a:prstGeom>
          <a:noFill/>
          <a:ln/>
        </p:spPr>
        <p:txBody>
          <a:bodyPr wrap="square" rtlCol="0" anchor="ctr"/>
          <a:lstStyle/>
          <a:p>
            <a:pPr indent="0" marL="0">
              <a:buNone/>
            </a:pPr>
            <a:r>
              <a:rPr lang="en-US" sz="1200" dirty="0">
                <a:solidFill>
                  <a:srgbClr val="FFFFFF"/>
                </a:solidFill>
              </a:rPr>
              <a:t>Software-first entrants bypass legacy manufacturing barriers.</a:t>
            </a:r>
            <a:endParaRPr lang="en-US" sz="1200" dirty="0"/>
          </a:p>
        </p:txBody>
      </p:sp>
      <p:sp>
        <p:nvSpPr>
          <p:cNvPr id="13" name="Text 11"/>
          <p:cNvSpPr/>
          <p:nvPr/>
        </p:nvSpPr>
        <p:spPr>
          <a:xfrm>
            <a:off x="4572000" y="3200400"/>
            <a:ext cx="6858000" cy="0"/>
          </a:xfrm>
          <a:prstGeom prst="rect">
            <a:avLst/>
          </a:prstGeom>
          <a:noFill/>
          <a:ln/>
        </p:spPr>
        <p:txBody>
          <a:bodyPr wrap="square" rtlCol="0" anchor="ctr"/>
          <a:lstStyle/>
          <a:p>
            <a:pPr indent="0" marL="0">
              <a:buNone/>
            </a:pPr>
            <a:r>
              <a:rPr lang="en-US" sz="1400" b="1" dirty="0">
                <a:solidFill>
                  <a:srgbClr val="EAB308"/>
                </a:solidFill>
              </a:rPr>
              <a:t>Substitutes (Moderate)</a:t>
            </a:r>
            <a:endParaRPr lang="en-US" sz="1400" dirty="0"/>
          </a:p>
        </p:txBody>
      </p:sp>
      <p:sp>
        <p:nvSpPr>
          <p:cNvPr id="14" name="Text 12"/>
          <p:cNvSpPr/>
          <p:nvPr/>
        </p:nvSpPr>
        <p:spPr>
          <a:xfrm>
            <a:off x="4572000" y="3474720"/>
            <a:ext cx="3657600" cy="0"/>
          </a:xfrm>
          <a:prstGeom prst="rect">
            <a:avLst/>
          </a:prstGeom>
          <a:noFill/>
          <a:ln/>
        </p:spPr>
        <p:txBody>
          <a:bodyPr wrap="square" rtlCol="0" anchor="ctr"/>
          <a:lstStyle/>
          <a:p>
            <a:pPr indent="0" marL="0">
              <a:buNone/>
            </a:pPr>
            <a:r>
              <a:rPr lang="en-US" sz="1200" dirty="0">
                <a:solidFill>
                  <a:srgbClr val="FFFFFF"/>
                </a:solidFill>
              </a:rPr>
              <a:t>Urban mobility platforms (Uber) and high-speed rail hedge exactly why Toyota is becoming a broad "mobility" provider.</a:t>
            </a:r>
            <a:endParaRPr lang="en-US" sz="12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3: ORGANIZING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Structuring the empire</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Historically, Toyota operated under a rigid "spoke-and-wheel" global hierarchy strictly managed from the corporate epicenter in Japan. This archaic structure proved catastrophic during the devastating 2009-2010 unintended acceleration crisis due to massive communication bottlenecks.</a:t>
            </a:r>
            <a:endParaRPr lang="en-US" sz="1400" dirty="0"/>
          </a:p>
        </p:txBody>
      </p:sp>
      <p:sp>
        <p:nvSpPr>
          <p:cNvPr id="6" name="Text 4"/>
          <p:cNvSpPr/>
          <p:nvPr/>
        </p:nvSpPr>
        <p:spPr>
          <a:xfrm>
            <a:off x="457200" y="2743200"/>
            <a:ext cx="8229600" cy="0"/>
          </a:xfrm>
          <a:prstGeom prst="rect">
            <a:avLst/>
          </a:prstGeom>
          <a:noFill/>
          <a:ln/>
        </p:spPr>
        <p:txBody>
          <a:bodyPr wrap="square" rtlCol="0" anchor="ctr"/>
          <a:lstStyle/>
          <a:p>
            <a:pPr indent="0" marL="0">
              <a:buNone/>
            </a:pPr>
            <a:r>
              <a:rPr lang="en-US" sz="1400" b="1" dirty="0">
                <a:solidFill>
                  <a:srgbClr val="FFFFFF"/>
                </a:solidFill>
              </a:rPr>
              <a:t>Today, Toyota utilizes a highly dynamic, decentralized 3D matrix structure:</a:t>
            </a:r>
            <a:endParaRPr lang="en-US" sz="1400" dirty="0"/>
          </a:p>
        </p:txBody>
      </p:sp>
      <p:sp>
        <p:nvSpPr>
          <p:cNvPr id="7" name="Text 5"/>
          <p:cNvSpPr/>
          <p:nvPr/>
        </p:nvSpPr>
        <p:spPr>
          <a:xfrm>
            <a:off x="457200" y="310896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 Geographic divisions: Semi-autonomous regional authorities covering NA, EU, Asia, maximizing local flexibility.</a:t>
            </a:r>
            <a:endParaRPr lang="en-US" sz="1400" dirty="0"/>
          </a:p>
          <a:p>
            <a:pPr indent="0" marL="0">
              <a:lnSpc>
                <a:spcPts val="2000"/>
              </a:lnSpc>
              <a:buNone/>
            </a:pPr>
            <a:r>
              <a:rPr lang="en-US" sz="1400" dirty="0">
                <a:solidFill>
                  <a:srgbClr val="94A3B8"/>
                </a:solidFill>
              </a:rPr>
              <a:t>• In-House company system: Shift from functional silos to agile product-based divisions (e.g., Lexus, Powertrain).</a:t>
            </a:r>
            <a:endParaRPr lang="en-US" sz="14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3: ORGANIZING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Governance &amp; restructuring</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6858000" cy="0"/>
          </a:xfrm>
          <a:prstGeom prst="rect">
            <a:avLst/>
          </a:prstGeom>
          <a:noFill/>
          <a:ln/>
        </p:spPr>
        <p:txBody>
          <a:bodyPr wrap="square" rtlCol="0" anchor="ctr"/>
          <a:lstStyle/>
          <a:p>
            <a:pPr indent="0" marL="0">
              <a:buNone/>
            </a:pPr>
            <a:r>
              <a:rPr lang="en-US" sz="1600" b="1" dirty="0">
                <a:solidFill>
                  <a:srgbClr val="DC2626"/>
                </a:solidFill>
              </a:rPr>
              <a:t>Board Governance Evolution</a:t>
            </a:r>
            <a:endParaRPr lang="en-US" sz="1600" dirty="0"/>
          </a:p>
        </p:txBody>
      </p:sp>
      <p:sp>
        <p:nvSpPr>
          <p:cNvPr id="6" name="Text 4"/>
          <p:cNvSpPr/>
          <p:nvPr/>
        </p:nvSpPr>
        <p:spPr>
          <a:xfrm>
            <a:off x="457200" y="2011680"/>
            <a:ext cx="8229600" cy="0"/>
          </a:xfrm>
          <a:prstGeom prst="rect">
            <a:avLst/>
          </a:prstGeom>
          <a:noFill/>
          <a:ln/>
        </p:spPr>
        <p:txBody>
          <a:bodyPr wrap="square" rtlCol="0" anchor="ctr"/>
          <a:lstStyle/>
          <a:p>
            <a:pPr indent="0" marL="0">
              <a:lnSpc>
                <a:spcPts val="2000"/>
              </a:lnSpc>
              <a:buNone/>
            </a:pPr>
            <a:r>
              <a:rPr lang="en-US" sz="1400" dirty="0">
                <a:solidFill>
                  <a:srgbClr val="FFFFFF"/>
                </a:solidFill>
              </a:rPr>
              <a:t>• Transitioned to a "company with an audit and supervisory committee."</a:t>
            </a:r>
            <a:endParaRPr lang="en-US" sz="1400" dirty="0"/>
          </a:p>
          <a:p>
            <a:pPr indent="0" marL="0">
              <a:lnSpc>
                <a:spcPts val="2000"/>
              </a:lnSpc>
              <a:buNone/>
            </a:pPr>
            <a:r>
              <a:rPr lang="en-US" sz="1400" dirty="0">
                <a:solidFill>
                  <a:srgbClr val="FFFFFF"/>
                </a:solidFill>
              </a:rPr>
              <a:t>• Auditors elevated to full unmitigated board members.</a:t>
            </a:r>
            <a:endParaRPr lang="en-US" sz="1400" dirty="0"/>
          </a:p>
          <a:p>
            <a:pPr indent="0" marL="0">
              <a:lnSpc>
                <a:spcPts val="2000"/>
              </a:lnSpc>
              <a:buNone/>
            </a:pPr>
            <a:r>
              <a:rPr lang="en-US" sz="1400" dirty="0">
                <a:solidFill>
                  <a:srgbClr val="FFFFFF"/>
                </a:solidFill>
              </a:rPr>
              <a:t>• 50% of the 10 directors are independent to counter cronyism.</a:t>
            </a:r>
            <a:endParaRPr lang="en-US" sz="1400" dirty="0"/>
          </a:p>
          <a:p>
            <a:pPr indent="0" marL="0">
              <a:lnSpc>
                <a:spcPts val="2000"/>
              </a:lnSpc>
              <a:buNone/>
            </a:pPr>
            <a:r>
              <a:rPr lang="en-US" sz="1400" dirty="0">
                <a:solidFill>
                  <a:srgbClr val="FFFFFF"/>
                </a:solidFill>
              </a:rPr>
              <a:t>• Board focuses purely on macro-strategic oversight, delegating daily execution to lower executives.</a:t>
            </a:r>
            <a:endParaRPr lang="en-US" sz="1400" dirty="0"/>
          </a:p>
        </p:txBody>
      </p:sp>
      <p:sp>
        <p:nvSpPr>
          <p:cNvPr id="7" name="Text 5"/>
          <p:cNvSpPr/>
          <p:nvPr/>
        </p:nvSpPr>
        <p:spPr>
          <a:xfrm>
            <a:off x="457200" y="3657600"/>
            <a:ext cx="6858000" cy="0"/>
          </a:xfrm>
          <a:prstGeom prst="rect">
            <a:avLst/>
          </a:prstGeom>
          <a:noFill/>
          <a:ln/>
        </p:spPr>
        <p:txBody>
          <a:bodyPr wrap="square" rtlCol="0" anchor="ctr"/>
          <a:lstStyle/>
          <a:p>
            <a:pPr indent="0" marL="0">
              <a:buNone/>
            </a:pPr>
            <a:r>
              <a:rPr lang="en-US" sz="1600" b="1" dirty="0">
                <a:solidFill>
                  <a:srgbClr val="DC2626"/>
                </a:solidFill>
              </a:rPr>
              <a:t>2026 Executive Restructuring</a:t>
            </a:r>
            <a:endParaRPr lang="en-US" sz="1600" dirty="0"/>
          </a:p>
        </p:txBody>
      </p:sp>
      <p:sp>
        <p:nvSpPr>
          <p:cNvPr id="8" name="Text 6"/>
          <p:cNvSpPr/>
          <p:nvPr/>
        </p:nvSpPr>
        <p:spPr>
          <a:xfrm>
            <a:off x="457200" y="4023360"/>
            <a:ext cx="8229600" cy="0"/>
          </a:xfrm>
          <a:prstGeom prst="rect">
            <a:avLst/>
          </a:prstGeom>
          <a:noFill/>
          <a:ln/>
        </p:spPr>
        <p:txBody>
          <a:bodyPr wrap="square" rtlCol="0" anchor="ctr"/>
          <a:lstStyle/>
          <a:p>
            <a:pPr indent="0" marL="0">
              <a:lnSpc>
                <a:spcPts val="2000"/>
              </a:lnSpc>
              <a:buNone/>
            </a:pPr>
            <a:r>
              <a:rPr lang="en-US" sz="1400" dirty="0">
                <a:solidFill>
                  <a:srgbClr val="FFFFFF"/>
                </a:solidFill>
              </a:rPr>
              <a:t>• Koji Sato (Chief Industry Officer): Shapes macro-national policy via JAMA, coordinating with gov against competitors.</a:t>
            </a:r>
            <a:endParaRPr lang="en-US" sz="1400" dirty="0"/>
          </a:p>
          <a:p>
            <a:pPr indent="0" marL="0">
              <a:lnSpc>
                <a:spcPts val="2000"/>
              </a:lnSpc>
              <a:buNone/>
            </a:pPr>
            <a:r>
              <a:rPr lang="en-US" sz="1400" dirty="0">
                <a:solidFill>
                  <a:srgbClr val="FFFFFF"/>
                </a:solidFill>
              </a:rPr>
              <a:t>• Kenta Kon (President &amp; CEO): Former CFO tapped to meticulously lower break-even volumes and engineer financial defenses.</a:t>
            </a:r>
            <a:endParaRPr lang="en-US" sz="14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4: STAFFING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The human capital asset</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Toyota fundamentally rejects the traditional Western manufacturing model of treating human labor strictly as an expendable variable cost. The 380,000 global employees are viewed as the company's only true appreciating asset, anchored by the psychological contract.</a:t>
            </a:r>
            <a:endParaRPr lang="en-US" sz="1400" dirty="0"/>
          </a:p>
        </p:txBody>
      </p:sp>
      <p:sp>
        <p:nvSpPr>
          <p:cNvPr id="6" name="Text 4"/>
          <p:cNvSpPr/>
          <p:nvPr/>
        </p:nvSpPr>
        <p:spPr>
          <a:xfrm>
            <a:off x="457200" y="246888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Forged after a 1962 strike, it guarantees long-term employment in exchange for absolute ownership of productivity gains. This prevents poaching of Toyota's most experienced master craftsmen (Takumi).</a:t>
            </a:r>
            <a:endParaRPr lang="en-US" sz="1400" dirty="0"/>
          </a:p>
        </p:txBody>
      </p:sp>
      <p:sp>
        <p:nvSpPr>
          <p:cNvPr id="7" name="Text 5"/>
          <p:cNvSpPr/>
          <p:nvPr/>
        </p:nvSpPr>
        <p:spPr>
          <a:xfrm>
            <a:off x="457200" y="3657600"/>
            <a:ext cx="6858000" cy="0"/>
          </a:xfrm>
          <a:prstGeom prst="rect">
            <a:avLst/>
          </a:prstGeom>
          <a:noFill/>
          <a:ln/>
        </p:spPr>
        <p:txBody>
          <a:bodyPr wrap="square" rtlCol="0" anchor="ctr"/>
          <a:lstStyle/>
          <a:p>
            <a:pPr indent="0" marL="0">
              <a:buNone/>
            </a:pPr>
            <a:r>
              <a:rPr lang="en-US" sz="1400" b="1" dirty="0">
                <a:solidFill>
                  <a:srgbClr val="FFFFFF"/>
                </a:solidFill>
              </a:rPr>
              <a:t>Blue-Collar integration</a:t>
            </a:r>
            <a:endParaRPr lang="en-US" sz="1400" dirty="0"/>
          </a:p>
        </p:txBody>
      </p:sp>
      <p:sp>
        <p:nvSpPr>
          <p:cNvPr id="8" name="Text 6"/>
          <p:cNvSpPr/>
          <p:nvPr/>
        </p:nvSpPr>
        <p:spPr>
          <a:xfrm>
            <a:off x="457200" y="3931920"/>
            <a:ext cx="3657600" cy="0"/>
          </a:xfrm>
          <a:prstGeom prst="rect">
            <a:avLst/>
          </a:prstGeom>
          <a:noFill/>
          <a:ln/>
        </p:spPr>
        <p:txBody>
          <a:bodyPr wrap="square" rtlCol="0" anchor="ctr"/>
          <a:lstStyle/>
          <a:p>
            <a:pPr indent="0" marL="0">
              <a:lnSpc>
                <a:spcPts val="1800"/>
              </a:lnSpc>
              <a:buNone/>
            </a:pPr>
            <a:r>
              <a:rPr lang="en-US" sz="1200" dirty="0">
                <a:solidFill>
                  <a:srgbClr val="94A3B8"/>
                </a:solidFill>
              </a:rPr>
              <a:t>Deeply immersive OJT pairing new hires with veterans. Job rotation forces cross-training through assembly, QA, logistics.</a:t>
            </a:r>
            <a:endParaRPr lang="en-US" sz="1200" dirty="0"/>
          </a:p>
        </p:txBody>
      </p:sp>
      <p:sp>
        <p:nvSpPr>
          <p:cNvPr id="9" name="Text 7"/>
          <p:cNvSpPr/>
          <p:nvPr/>
        </p:nvSpPr>
        <p:spPr>
          <a:xfrm>
            <a:off x="4572000" y="3657600"/>
            <a:ext cx="6858000" cy="0"/>
          </a:xfrm>
          <a:prstGeom prst="rect">
            <a:avLst/>
          </a:prstGeom>
          <a:noFill/>
          <a:ln/>
        </p:spPr>
        <p:txBody>
          <a:bodyPr wrap="square" rtlCol="0" anchor="ctr"/>
          <a:lstStyle/>
          <a:p>
            <a:pPr indent="0" marL="0">
              <a:buNone/>
            </a:pPr>
            <a:r>
              <a:rPr lang="en-US" sz="1400" b="1" dirty="0">
                <a:solidFill>
                  <a:srgbClr val="FFFFFF"/>
                </a:solidFill>
              </a:rPr>
              <a:t>GLOBAL 21 pipeline</a:t>
            </a:r>
            <a:endParaRPr lang="en-US" sz="1400" dirty="0"/>
          </a:p>
        </p:txBody>
      </p:sp>
      <p:sp>
        <p:nvSpPr>
          <p:cNvPr id="10" name="Text 8"/>
          <p:cNvSpPr/>
          <p:nvPr/>
        </p:nvSpPr>
        <p:spPr>
          <a:xfrm>
            <a:off x="4572000" y="3931920"/>
            <a:ext cx="3657600" cy="0"/>
          </a:xfrm>
          <a:prstGeom prst="rect">
            <a:avLst/>
          </a:prstGeom>
          <a:noFill/>
          <a:ln/>
        </p:spPr>
        <p:txBody>
          <a:bodyPr wrap="square" rtlCol="0" anchor="ctr"/>
          <a:lstStyle/>
          <a:p>
            <a:pPr indent="0" marL="0">
              <a:lnSpc>
                <a:spcPts val="1800"/>
              </a:lnSpc>
              <a:buNone/>
            </a:pPr>
            <a:r>
              <a:rPr lang="en-US" sz="1200" dirty="0">
                <a:solidFill>
                  <a:srgbClr val="94A3B8"/>
                </a:solidFill>
              </a:rPr>
              <a:t>Forces high-potential executives into demanding overseas assignments or MBAs to build cross-cultural operational skills.</a:t>
            </a:r>
            <a:endParaRPr lang="en-US" sz="12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4: STAFFING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The architecture of appraisal</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8229600" cy="0"/>
          </a:xfrm>
          <a:prstGeom prst="rect">
            <a:avLst/>
          </a:prstGeom>
          <a:noFill/>
          <a:ln/>
        </p:spPr>
        <p:txBody>
          <a:bodyPr wrap="square" rtlCol="0" anchor="ctr"/>
          <a:lstStyle/>
          <a:p>
            <a:pPr indent="0" marL="0">
              <a:buNone/>
            </a:pPr>
            <a:r>
              <a:rPr lang="en-US" sz="1400" dirty="0">
                <a:solidFill>
                  <a:srgbClr val="FFFFFF"/>
                </a:solidFill>
              </a:rPr>
              <a:t>Evaluations bypass highly subjective traits, focusing entirely on 5 empirical criteria (worth 10 points each):</a:t>
            </a:r>
            <a:endParaRPr lang="en-US" sz="1400" dirty="0"/>
          </a:p>
        </p:txBody>
      </p:sp>
      <p:sp>
        <p:nvSpPr>
          <p:cNvPr id="6" name="Text 4"/>
          <p:cNvSpPr/>
          <p:nvPr/>
        </p:nvSpPr>
        <p:spPr>
          <a:xfrm>
            <a:off x="457200" y="2103120"/>
            <a:ext cx="8229600" cy="0"/>
          </a:xfrm>
          <a:prstGeom prst="rect">
            <a:avLst/>
          </a:prstGeom>
          <a:noFill/>
          <a:ln/>
        </p:spPr>
        <p:txBody>
          <a:bodyPr wrap="square" rtlCol="0" anchor="ctr"/>
          <a:lstStyle/>
          <a:p>
            <a:pPr indent="0" marL="0">
              <a:lnSpc>
                <a:spcPts val="2400"/>
              </a:lnSpc>
              <a:buNone/>
            </a:pPr>
            <a:r>
              <a:rPr lang="en-US" sz="1400" b="1" dirty="0">
                <a:solidFill>
                  <a:srgbClr val="DC2626"/>
                </a:solidFill>
              </a:rPr>
              <a:t>1. Physical skills (takt time): </a:t>
            </a:r>
            <a:pPr indent="0" marL="0">
              <a:lnSpc>
                <a:spcPts val="2400"/>
              </a:lnSpc>
              <a:buNone/>
            </a:pPr>
            <a:r>
              <a:rPr lang="en-US" sz="1400" dirty="0">
                <a:solidFill>
                  <a:srgbClr val="94A3B8"/>
                </a:solidFill>
              </a:rPr>
              <a:t>Executing tasks strictly within the cycle limit without degrading safety.
</a:t>
            </a:r>
            <a:pPr indent="0" marL="0">
              <a:lnSpc>
                <a:spcPts val="2400"/>
              </a:lnSpc>
              <a:buNone/>
            </a:pPr>
            <a:r>
              <a:rPr lang="en-US" sz="1400" b="1" dirty="0">
                <a:solidFill>
                  <a:srgbClr val="DC2626"/>
                </a:solidFill>
              </a:rPr>
              <a:t>2. Quality maintenance: </a:t>
            </a:r>
            <a:pPr indent="0" marL="0">
              <a:lnSpc>
                <a:spcPts val="2400"/>
              </a:lnSpc>
              <a:buNone/>
            </a:pPr>
            <a:r>
              <a:rPr lang="en-US" sz="1400" dirty="0">
                <a:solidFill>
                  <a:srgbClr val="94A3B8"/>
                </a:solidFill>
              </a:rPr>
              <a:t>Adherence to stringent zero-defect logic.
</a:t>
            </a:r>
            <a:pPr indent="0" marL="0">
              <a:lnSpc>
                <a:spcPts val="2400"/>
              </a:lnSpc>
              <a:buNone/>
            </a:pPr>
            <a:r>
              <a:rPr lang="en-US" sz="1400" b="1" dirty="0">
                <a:solidFill>
                  <a:srgbClr val="DC2626"/>
                </a:solidFill>
              </a:rPr>
              <a:t>3. Kaizen participation: </a:t>
            </a:r>
            <a:pPr indent="0" marL="0">
              <a:lnSpc>
                <a:spcPts val="2400"/>
              </a:lnSpc>
              <a:buNone/>
            </a:pPr>
            <a:r>
              <a:rPr lang="en-US" sz="1400" dirty="0">
                <a:solidFill>
                  <a:srgbClr val="94A3B8"/>
                </a:solidFill>
              </a:rPr>
              <a:t>Active, documented participation in continuous iterative improvement.
</a:t>
            </a:r>
            <a:pPr indent="0" marL="0">
              <a:lnSpc>
                <a:spcPts val="2400"/>
              </a:lnSpc>
              <a:buNone/>
            </a:pPr>
            <a:r>
              <a:rPr lang="en-US" sz="1400" b="1" dirty="0">
                <a:solidFill>
                  <a:srgbClr val="DC2626"/>
                </a:solidFill>
              </a:rPr>
              <a:t>4. Big picture view: </a:t>
            </a:r>
            <a:pPr indent="0" marL="0">
              <a:lnSpc>
                <a:spcPts val="2400"/>
              </a:lnSpc>
              <a:buNone/>
            </a:pPr>
            <a:r>
              <a:rPr lang="en-US" sz="1400" dirty="0">
                <a:solidFill>
                  <a:srgbClr val="94A3B8"/>
                </a:solidFill>
              </a:rPr>
              <a:t>Articulating exactly how microscopic line tasks support corporate objectives.
</a:t>
            </a:r>
            <a:pPr indent="0" marL="0">
              <a:lnSpc>
                <a:spcPts val="2400"/>
              </a:lnSpc>
              <a:buNone/>
            </a:pPr>
            <a:r>
              <a:rPr lang="en-US" sz="1400" b="1" dirty="0">
                <a:solidFill>
                  <a:srgbClr val="DC2626"/>
                </a:solidFill>
              </a:rPr>
              <a:t>5. Problem solving: </a:t>
            </a:r>
            <a:pPr indent="0" marL="0">
              <a:lnSpc>
                <a:spcPts val="2400"/>
              </a:lnSpc>
              <a:buNone/>
            </a:pPr>
            <a:r>
              <a:rPr lang="en-US" sz="1400" dirty="0">
                <a:solidFill>
                  <a:srgbClr val="94A3B8"/>
                </a:solidFill>
              </a:rPr>
              <a:t>Independently utilizing '5 Whys' root-cause analysis and physically deploying countermeasures.</a:t>
            </a:r>
            <a:endParaRPr lang="en-US" sz="14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5: LEADING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Facilitating horizontal alignment</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Leadership at Toyota is a profound rejection of vertical, autocratic directives common in standard manufacturing. Instead, it is defined by meticulous facilitation, dismantling restrictive corporate silos, and empowering subordinates at the genba (the actual place value is created). Leaders are coaches, not drill sergeants.</a:t>
            </a:r>
            <a:endParaRPr lang="en-US" sz="1400" dirty="0"/>
          </a:p>
        </p:txBody>
      </p:sp>
      <p:sp>
        <p:nvSpPr>
          <p:cNvPr id="6" name="Text 4"/>
          <p:cNvSpPr/>
          <p:nvPr/>
        </p:nvSpPr>
        <p:spPr>
          <a:xfrm>
            <a:off x="457200" y="2926080"/>
            <a:ext cx="6858000" cy="0"/>
          </a:xfrm>
          <a:prstGeom prst="rect">
            <a:avLst/>
          </a:prstGeom>
          <a:noFill/>
          <a:ln/>
        </p:spPr>
        <p:txBody>
          <a:bodyPr wrap="square" rtlCol="0" anchor="ctr"/>
          <a:lstStyle/>
          <a:p>
            <a:pPr indent="0" marL="0">
              <a:buNone/>
            </a:pPr>
            <a:r>
              <a:rPr lang="en-US" sz="1600" b="1" dirty="0">
                <a:solidFill>
                  <a:srgbClr val="DC2626"/>
                </a:solidFill>
              </a:rPr>
              <a:t>The obeya system (Big Room)</a:t>
            </a:r>
            <a:endParaRPr lang="en-US" sz="1600" dirty="0"/>
          </a:p>
        </p:txBody>
      </p:sp>
      <p:sp>
        <p:nvSpPr>
          <p:cNvPr id="7" name="Text 5"/>
          <p:cNvSpPr/>
          <p:nvPr/>
        </p:nvSpPr>
        <p:spPr>
          <a:xfrm>
            <a:off x="457200" y="3291840"/>
            <a:ext cx="8229600" cy="0"/>
          </a:xfrm>
          <a:prstGeom prst="rect">
            <a:avLst/>
          </a:prstGeom>
          <a:noFill/>
          <a:ln/>
        </p:spPr>
        <p:txBody>
          <a:bodyPr wrap="square" rtlCol="0" anchor="ctr"/>
          <a:lstStyle/>
          <a:p>
            <a:pPr indent="0" marL="0">
              <a:lnSpc>
                <a:spcPts val="1800"/>
              </a:lnSpc>
              <a:buNone/>
            </a:pPr>
            <a:r>
              <a:rPr lang="en-US" sz="1400" dirty="0">
                <a:solidFill>
                  <a:srgbClr val="FFFFFF"/>
                </a:solidFill>
              </a:rPr>
              <a:t>Cross-functional engineers from conflicting departments converge in a highly visual workspace to practice genchi genbutsu. A3 problem solving documents plaster walls to demolish email chains and force face-to-face decisions.</a:t>
            </a:r>
            <a:endParaRPr lang="en-US" sz="1400" dirty="0"/>
          </a:p>
        </p:txBody>
      </p:sp>
      <p:sp>
        <p:nvSpPr>
          <p:cNvPr id="8" name="Text 6"/>
          <p:cNvSpPr/>
          <p:nvPr/>
        </p:nvSpPr>
        <p:spPr>
          <a:xfrm>
            <a:off x="457200" y="4114800"/>
            <a:ext cx="6858000" cy="0"/>
          </a:xfrm>
          <a:prstGeom prst="rect">
            <a:avLst/>
          </a:prstGeom>
          <a:noFill/>
          <a:ln/>
        </p:spPr>
        <p:txBody>
          <a:bodyPr wrap="square" rtlCol="0" anchor="ctr"/>
          <a:lstStyle/>
          <a:p>
            <a:pPr indent="0" marL="0">
              <a:buNone/>
            </a:pPr>
            <a:r>
              <a:rPr lang="en-US" sz="1600" b="1" dirty="0">
                <a:solidFill>
                  <a:srgbClr val="DC2626"/>
                </a:solidFill>
              </a:rPr>
              <a:t>Toyota times (2020)</a:t>
            </a:r>
            <a:endParaRPr lang="en-US" sz="1600" dirty="0"/>
          </a:p>
        </p:txBody>
      </p:sp>
      <p:sp>
        <p:nvSpPr>
          <p:cNvPr id="9" name="Text 7"/>
          <p:cNvSpPr/>
          <p:nvPr/>
        </p:nvSpPr>
        <p:spPr>
          <a:xfrm>
            <a:off x="457200" y="4389120"/>
            <a:ext cx="8229600" cy="0"/>
          </a:xfrm>
          <a:prstGeom prst="rect">
            <a:avLst/>
          </a:prstGeom>
          <a:noFill/>
          <a:ln/>
        </p:spPr>
        <p:txBody>
          <a:bodyPr wrap="square" rtlCol="0" anchor="ctr"/>
          <a:lstStyle/>
          <a:p>
            <a:pPr indent="0" marL="0">
              <a:buNone/>
            </a:pPr>
            <a:r>
              <a:rPr lang="en-US" sz="1400" dirty="0">
                <a:solidFill>
                  <a:srgbClr val="FFFFFF"/>
                </a:solidFill>
              </a:rPr>
              <a:t>Open-media channel projecting top management's unfiltered thoughts directly to the public &amp; workforce.</a:t>
            </a:r>
            <a:endParaRPr lang="en-US" sz="14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5: LEADING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Democratizing innovation</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The Toyota Creative Idea Suggestion System (TCISS), est. 1951, successfully democratized mass innovation, granting complete autonomy to line workers. Total recorded submissions exceeded 40M ideas by 2011.</a:t>
            </a:r>
            <a:endParaRPr lang="en-US" sz="1400" dirty="0"/>
          </a:p>
        </p:txBody>
      </p:sp>
      <p:sp>
        <p:nvSpPr>
          <p:cNvPr id="6" name="Text 4"/>
          <p:cNvSpPr/>
          <p:nvPr/>
        </p:nvSpPr>
        <p:spPr>
          <a:xfrm>
            <a:off x="457200" y="2560320"/>
            <a:ext cx="6858000" cy="0"/>
          </a:xfrm>
          <a:prstGeom prst="rect">
            <a:avLst/>
          </a:prstGeom>
          <a:noFill/>
          <a:ln/>
        </p:spPr>
        <p:txBody>
          <a:bodyPr wrap="square" rtlCol="0" anchor="ctr"/>
          <a:lstStyle/>
          <a:p>
            <a:pPr indent="0" marL="0">
              <a:buNone/>
            </a:pPr>
            <a:r>
              <a:rPr lang="en-US" sz="1400" b="1" dirty="0">
                <a:solidFill>
                  <a:srgbClr val="FFFFFF"/>
                </a:solidFill>
              </a:rPr>
              <a:t>Financial incentive architecture:</a:t>
            </a:r>
            <a:endParaRPr lang="en-US" sz="1400" dirty="0"/>
          </a:p>
        </p:txBody>
      </p:sp>
      <p:sp>
        <p:nvSpPr>
          <p:cNvPr id="7" name="Text 5"/>
          <p:cNvSpPr/>
          <p:nvPr/>
        </p:nvSpPr>
        <p:spPr>
          <a:xfrm>
            <a:off x="457200" y="292608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 Standard prize for any suggestion: 500 ¥</a:t>
            </a:r>
            <a:endParaRPr lang="en-US" sz="1400" dirty="0"/>
          </a:p>
          <a:p>
            <a:pPr indent="0" marL="0">
              <a:lnSpc>
                <a:spcPts val="2000"/>
              </a:lnSpc>
              <a:buNone/>
            </a:pPr>
            <a:r>
              <a:rPr lang="en-US" sz="1400" dirty="0">
                <a:solidFill>
                  <a:srgbClr val="94A3B8"/>
                </a:solidFill>
              </a:rPr>
              <a:t>• Outstanding prize (actionable): 2,000 ¥</a:t>
            </a:r>
            <a:endParaRPr lang="en-US" sz="1400" dirty="0"/>
          </a:p>
          <a:p>
            <a:pPr indent="0" marL="0">
              <a:lnSpc>
                <a:spcPts val="2000"/>
              </a:lnSpc>
              <a:buNone/>
            </a:pPr>
            <a:r>
              <a:rPr lang="en-US" sz="1400" dirty="0">
                <a:solidFill>
                  <a:srgbClr val="94A3B8"/>
                </a:solidFill>
              </a:rPr>
              <a:t>• Excellent prize (high impact): 5,000 ¥</a:t>
            </a:r>
            <a:endParaRPr lang="en-US" sz="1400" dirty="0"/>
          </a:p>
          <a:p>
            <a:pPr indent="0" marL="0">
              <a:lnSpc>
                <a:spcPts val="2000"/>
              </a:lnSpc>
              <a:buNone/>
            </a:pPr>
            <a:r>
              <a:rPr lang="en-US" sz="1400" dirty="0">
                <a:solidFill>
                  <a:srgbClr val="94A3B8"/>
                </a:solidFill>
              </a:rPr>
              <a:t>• The Best Award (system-wide change): 10,000 - 200,000 ¥</a:t>
            </a:r>
            <a:endParaRPr lang="en-US" sz="1400" dirty="0"/>
          </a:p>
        </p:txBody>
      </p:sp>
      <p:sp>
        <p:nvSpPr>
          <p:cNvPr id="8" name="Text 6"/>
          <p:cNvSpPr/>
          <p:nvPr/>
        </p:nvSpPr>
        <p:spPr>
          <a:xfrm>
            <a:off x="457200" y="4114800"/>
            <a:ext cx="6858000" cy="0"/>
          </a:xfrm>
          <a:prstGeom prst="rect">
            <a:avLst/>
          </a:prstGeom>
          <a:noFill/>
          <a:ln/>
        </p:spPr>
        <p:txBody>
          <a:bodyPr wrap="square" rtlCol="0" anchor="ctr"/>
          <a:lstStyle/>
          <a:p>
            <a:pPr indent="0" marL="0">
              <a:buNone/>
            </a:pPr>
            <a:r>
              <a:rPr lang="en-US" sz="1400" b="1" dirty="0">
                <a:solidFill>
                  <a:srgbClr val="DC2626"/>
                </a:solidFill>
              </a:rPr>
              <a:t>The rookie award mandate:</a:t>
            </a:r>
            <a:endParaRPr lang="en-US" sz="1400" dirty="0"/>
          </a:p>
        </p:txBody>
      </p:sp>
      <p:sp>
        <p:nvSpPr>
          <p:cNvPr id="9" name="Text 7"/>
          <p:cNvSpPr/>
          <p:nvPr/>
        </p:nvSpPr>
        <p:spPr>
          <a:xfrm>
            <a:off x="457200" y="4389120"/>
            <a:ext cx="8229600" cy="0"/>
          </a:xfrm>
          <a:prstGeom prst="rect">
            <a:avLst/>
          </a:prstGeom>
          <a:noFill/>
          <a:ln/>
        </p:spPr>
        <p:txBody>
          <a:bodyPr wrap="square" rtlCol="0" anchor="ctr"/>
          <a:lstStyle/>
          <a:p>
            <a:pPr indent="0" marL="0">
              <a:lnSpc>
                <a:spcPts val="1800"/>
              </a:lnSpc>
              <a:buNone/>
            </a:pPr>
            <a:r>
              <a:rPr lang="en-US" sz="1400" dirty="0">
                <a:solidFill>
                  <a:srgbClr val="FFFFFF"/>
                </a:solidFill>
              </a:rPr>
              <a:t>Exclusively targets 1st and 2nd-year entry employees, coercing them to generate at least 36 actionable efficiency suggestions annually (~3 per month) to radically break complacent habits.</a:t>
            </a:r>
            <a:endParaRPr lang="en-US" sz="14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6: CONTROLLING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Algorithmic control &amp; oversight</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6858000" cy="0"/>
          </a:xfrm>
          <a:prstGeom prst="rect">
            <a:avLst/>
          </a:prstGeom>
          <a:noFill/>
          <a:ln/>
        </p:spPr>
        <p:txBody>
          <a:bodyPr wrap="square" rtlCol="0" anchor="ctr"/>
          <a:lstStyle/>
          <a:p>
            <a:pPr indent="0" marL="0">
              <a:buNone/>
            </a:pPr>
            <a:r>
              <a:rPr lang="en-US" sz="1600" b="1" dirty="0">
                <a:solidFill>
                  <a:srgbClr val="DC2626"/>
                </a:solidFill>
              </a:rPr>
              <a:t>Financial pressures &amp; market reality (FY24 vs FY25)</a:t>
            </a:r>
            <a:endParaRPr lang="en-US" sz="1600" dirty="0"/>
          </a:p>
        </p:txBody>
      </p:sp>
      <p:sp>
        <p:nvSpPr>
          <p:cNvPr id="6" name="Text 4"/>
          <p:cNvSpPr/>
          <p:nvPr/>
        </p:nvSpPr>
        <p:spPr>
          <a:xfrm>
            <a:off x="457200" y="201168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Rigorous models reveal a volatile dual reality: massive top-line revenue growth across global markets is being brutally offset by severe margin compression. This profit tightening is fundamentally caused by capital expenditures ($13.9B NC battery campus) and soaring macro-inflation surrounding raw materials.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6858000" cy="914400"/>
        </p:xfrm>
        <a:graphic>
          <a:graphicData uri="http://schemas.openxmlformats.org/drawingml/2006/table">
            <a:tbl>
              <a:tblPr/>
              <a:tblGrid>
                <a:gridCol w="3657600"/>
                <a:gridCol w="3657600"/>
              </a:tblGrid>
              <a:tr h="365760">
                <a:tc>
                  <a:txBody>
                    <a:bodyPr/>
                    <a:lstStyle/>
                    <a:p>
                      <a:pPr indent="0" marL="0">
                        <a:buNone/>
                      </a:pPr>
                      <a:r>
                        <a:rPr lang="en-US" sz="1200" b="1" dirty="0">
                          <a:solidFill>
                            <a:srgbClr val="FFFFFF"/>
                          </a:solidFill>
                        </a:rPr>
                        <a:t>Metric</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Value / Delta</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365760">
                <a:tc>
                  <a:txBody>
                    <a:bodyPr/>
                    <a:lstStyle/>
                    <a:p>
                      <a:pPr indent="0" marL="0">
                        <a:buNone/>
                      </a:pPr>
                      <a:r>
                        <a:rPr lang="en-US" sz="1200" dirty="0">
                          <a:solidFill>
                            <a:srgbClr val="94A3B8"/>
                          </a:solidFill>
                        </a:rPr>
                        <a:t>Global sales revenue</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00" dirty="0">
                          <a:solidFill>
                            <a:srgbClr val="10B981"/>
                          </a:solidFill>
                        </a:rPr>
                        <a:t>48,036B ¥ (+6.5% YoY)</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365760">
                <a:tc>
                  <a:txBody>
                    <a:bodyPr/>
                    <a:lstStyle/>
                    <a:p>
                      <a:pPr indent="0" marL="0">
                        <a:buNone/>
                      </a:pPr>
                      <a:r>
                        <a:rPr lang="en-US" sz="1200" dirty="0">
                          <a:solidFill>
                            <a:srgbClr val="94A3B8"/>
                          </a:solidFill>
                        </a:rPr>
                        <a:t>FY2024 operating margin</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00" dirty="0">
                          <a:solidFill>
                            <a:srgbClr val="10B981"/>
                          </a:solidFill>
                        </a:rPr>
                        <a:t>11.9% (Historic high benchmark)</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365760">
                <a:tc>
                  <a:txBody>
                    <a:bodyPr/>
                    <a:lstStyle/>
                    <a:p>
                      <a:pPr indent="0" marL="0">
                        <a:buNone/>
                      </a:pPr>
                      <a:r>
                        <a:rPr lang="en-US" sz="1200" dirty="0">
                          <a:solidFill>
                            <a:srgbClr val="94A3B8"/>
                          </a:solidFill>
                        </a:rPr>
                        <a:t>FY2025 operating margin forecast</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00" dirty="0">
                          <a:solidFill>
                            <a:srgbClr val="F97316"/>
                          </a:solidFill>
                        </a:rPr>
                        <a:t>10.0% (-1.9 pts, triggered CEO change)</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r h="365760">
                <a:tc>
                  <a:txBody>
                    <a:bodyPr/>
                    <a:lstStyle/>
                    <a:p>
                      <a:pPr indent="0" marL="0">
                        <a:buNone/>
                      </a:pPr>
                      <a:r>
                        <a:rPr lang="en-US" sz="1200" dirty="0">
                          <a:solidFill>
                            <a:srgbClr val="94A3B8"/>
                          </a:solidFill>
                        </a:rPr>
                        <a:t>Return on equity (R.O.E.)</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c>
                  <a:txBody>
                    <a:bodyPr/>
                    <a:lstStyle/>
                    <a:p>
                      <a:pPr indent="0" marL="0">
                        <a:buNone/>
                      </a:pPr>
                      <a:r>
                        <a:rPr lang="en-US" sz="1200" dirty="0">
                          <a:solidFill>
                            <a:srgbClr val="F97316"/>
                          </a:solidFill>
                        </a:rPr>
                        <a:t>13.6% (-2.2 pts)</a:t>
                      </a:r>
                      <a:endParaRPr lang="en-US" sz="1200" dirty="0"/>
                    </a:p>
                  </a:txBody>
                  <a:tcPr marL="91440" marR="91440" marT="45720" marB="45720" anchor="ctr">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0F172A"/>
                    </a:solidFill>
                  </a:tcPr>
                </a:tc>
              </a:tr>
            </a:tbl>
          </a:graphicData>
        </a:graphic>
      </p:graphicFrame>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indent="0" marL="0">
              <a:buNone/>
            </a:pPr>
            <a:r>
              <a:rPr lang="en-US" sz="1200" b="1" spc="200" kern="0" dirty="0">
                <a:solidFill>
                  <a:srgbClr val="DC2626"/>
                </a:solidFill>
              </a:rPr>
              <a:t>CHAPTER 6: CONTROLLING</a:t>
            </a:r>
            <a:endParaRPr lang="en-US" sz="1200" dirty="0"/>
          </a:p>
        </p:txBody>
      </p:sp>
      <p:sp>
        <p:nvSpPr>
          <p:cNvPr id="3" name="Text 1"/>
          <p:cNvSpPr/>
          <p:nvPr/>
        </p:nvSpPr>
        <p:spPr>
          <a:xfrm>
            <a:off x="457200" y="731520"/>
            <a:ext cx="8229600" cy="0"/>
          </a:xfrm>
          <a:prstGeom prst="rect">
            <a:avLst/>
          </a:prstGeom>
          <a:noFill/>
          <a:ln/>
        </p:spPr>
        <p:txBody>
          <a:bodyPr wrap="square" rtlCol="0" anchor="ctr"/>
          <a:lstStyle/>
          <a:p>
            <a:pPr indent="0" marL="0">
              <a:buNone/>
            </a:pPr>
            <a:r>
              <a:rPr lang="en-US" sz="2400" b="1" dirty="0">
                <a:solidFill>
                  <a:srgbClr val="FFFFFF"/>
                </a:solidFill>
              </a:rPr>
              <a:t>Compliance &amp; environmental control</a:t>
            </a:r>
            <a:endParaRPr lang="en-US" sz="2400" dirty="0"/>
          </a:p>
        </p:txBody>
      </p:sp>
      <p:sp>
        <p:nvSpPr>
          <p:cNvPr id="4" name="Shape 2"/>
          <p:cNvSpPr/>
          <p:nvPr/>
        </p:nvSpPr>
        <p:spPr>
          <a:xfrm>
            <a:off x="457200" y="1371600"/>
            <a:ext cx="8229600" cy="0"/>
          </a:xfrm>
          <a:prstGeom prst="line">
            <a:avLst/>
          </a:prstGeom>
          <a:noFill/>
          <a:ln w="12700">
            <a:solidFill>
              <a:srgbClr val="DC2626"/>
            </a:solidFill>
            <a:prstDash val="solid"/>
          </a:ln>
        </p:spPr>
      </p:sp>
      <p:sp>
        <p:nvSpPr>
          <p:cNvPr id="5" name="Text 3"/>
          <p:cNvSpPr/>
          <p:nvPr/>
        </p:nvSpPr>
        <p:spPr>
          <a:xfrm>
            <a:off x="457200" y="1645920"/>
            <a:ext cx="6858000" cy="0"/>
          </a:xfrm>
          <a:prstGeom prst="rect">
            <a:avLst/>
          </a:prstGeom>
          <a:noFill/>
          <a:ln/>
        </p:spPr>
        <p:txBody>
          <a:bodyPr wrap="square" rtlCol="0" anchor="ctr"/>
          <a:lstStyle/>
          <a:p>
            <a:pPr indent="0" marL="0">
              <a:buNone/>
            </a:pPr>
            <a:r>
              <a:rPr lang="en-US" sz="1600" b="1" dirty="0">
                <a:solidFill>
                  <a:srgbClr val="DC2626"/>
                </a:solidFill>
              </a:rPr>
              <a:t>Executive compliance architecture</a:t>
            </a:r>
            <a:endParaRPr lang="en-US" sz="1600" dirty="0"/>
          </a:p>
        </p:txBody>
      </p:sp>
      <p:sp>
        <p:nvSpPr>
          <p:cNvPr id="6" name="Text 4"/>
          <p:cNvSpPr/>
          <p:nvPr/>
        </p:nvSpPr>
        <p:spPr>
          <a:xfrm>
            <a:off x="457200" y="201168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Following catastrophic crash-test certification violations (Hino, Daihatsu), Toyota instituted draconian compliance rules. The centralized GCCO wields unmitigated veto authority over factory line compliance issues, directly bypassing middle management. Regional CCOs handle EU/NA nuances.</a:t>
            </a:r>
            <a:endParaRPr lang="en-US" sz="1400" dirty="0"/>
          </a:p>
        </p:txBody>
      </p:sp>
      <p:sp>
        <p:nvSpPr>
          <p:cNvPr id="7" name="Text 5"/>
          <p:cNvSpPr/>
          <p:nvPr/>
        </p:nvSpPr>
        <p:spPr>
          <a:xfrm>
            <a:off x="457200" y="3200400"/>
            <a:ext cx="6858000" cy="0"/>
          </a:xfrm>
          <a:prstGeom prst="rect">
            <a:avLst/>
          </a:prstGeom>
          <a:noFill/>
          <a:ln/>
        </p:spPr>
        <p:txBody>
          <a:bodyPr wrap="square" rtlCol="0" anchor="ctr"/>
          <a:lstStyle/>
          <a:p>
            <a:pPr indent="0" marL="0">
              <a:buNone/>
            </a:pPr>
            <a:r>
              <a:rPr lang="en-US" sz="1600" b="1" dirty="0">
                <a:solidFill>
                  <a:srgbClr val="DC2626"/>
                </a:solidFill>
              </a:rPr>
              <a:t>Environmental &amp; vendor supply control</a:t>
            </a:r>
            <a:endParaRPr lang="en-US" sz="1600" dirty="0"/>
          </a:p>
        </p:txBody>
      </p:sp>
      <p:sp>
        <p:nvSpPr>
          <p:cNvPr id="8" name="Text 6"/>
          <p:cNvSpPr/>
          <p:nvPr/>
        </p:nvSpPr>
        <p:spPr>
          <a:xfrm>
            <a:off x="457200" y="3566160"/>
            <a:ext cx="8229600" cy="0"/>
          </a:xfrm>
          <a:prstGeom prst="rect">
            <a:avLst/>
          </a:prstGeom>
          <a:noFill/>
          <a:ln/>
        </p:spPr>
        <p:txBody>
          <a:bodyPr wrap="square" rtlCol="0" anchor="ctr"/>
          <a:lstStyle/>
          <a:p>
            <a:pPr indent="0" marL="0">
              <a:lnSpc>
                <a:spcPts val="2000"/>
              </a:lnSpc>
              <a:buNone/>
            </a:pPr>
            <a:r>
              <a:rPr lang="en-US" sz="1400" dirty="0">
                <a:solidFill>
                  <a:srgbClr val="94A3B8"/>
                </a:solidFill>
              </a:rPr>
              <a:t>• Global EMIS cloud infrastructure: Automatically and algorithmically assesses the chemical toxicity risks of millions of parts in real-time to avoid EU/US violations.</a:t>
            </a:r>
            <a:endParaRPr lang="en-US" sz="1400" dirty="0"/>
          </a:p>
          <a:p>
            <a:pPr indent="0" marL="0">
              <a:lnSpc>
                <a:spcPts val="2000"/>
              </a:lnSpc>
              <a:buNone/>
            </a:pPr>
            <a:r>
              <a:rPr lang="en-US" sz="1400" dirty="0">
                <a:solidFill>
                  <a:srgbClr val="94A3B8"/>
                </a:solidFill>
              </a:rPr>
              <a:t>• TEAM award KPI framework: Third-party suppliers are relentlessly evaluated against microscopic defect rates, minute-level precision, and multi-year cost reduction.</a:t>
            </a:r>
            <a:endParaRPr lang="en-US" sz="1400" dirty="0"/>
          </a:p>
        </p:txBody>
      </p:sp>
      <p:sp>
        <p:nvSpPr>
          <p:cNvPr id="25" name="Slide Number Placeholder 0"/>
          <p:cNvSpPr>
            <a:spLocks noGrp="1"/>
          </p:cNvSpPr>
          <p:nvPr>
            <p:ph type="sldNum" sz="quarter" idx="4294967295"/>
          </p:nvPr>
        </p:nvSpPr>
        <p:spPr>
          <a:xfrm>
            <a:off x="8686800" y="4886325"/>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2026-03-15T19:44:46Z</dcterms:created>
  <dcterms:modified xsi:type="dcterms:W3CDTF">2026-03-15T19:44:46Z</dcterms:modified>
</cp:coreProperties>
</file>